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xlsx" ContentType="application/vnd.openxmlformats-officedocument.spreadsheetml.sheet"/>
  <Default Extension="jpe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app.xml" ContentType="application/vnd.openxmlformats-officedocument.extended-properties+xml"/>
  <Override PartName="/docProps/core.xml" ContentType="application/vnd.openxmlformats-package.core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58786733e0c4f5d" /><Relationship Type="http://schemas.openxmlformats.org/officeDocument/2006/relationships/extended-properties" Target="/docProps/app.xml" Id="Rf00a37b4603a457d" /><Relationship Type="http://schemas.openxmlformats.org/package/2006/relationships/metadata/core-properties" Target="/docProps/core.xml" Id="Ra3a5b42a3d0545ce" /><Relationship Type="http://schemas.openxmlformats.org/package/2006/relationships/metadata/thumbnail" Target="/docProps/thumbnail.jpeg" Id="Rc11cf14906a14129" /></Relationships>
</file>

<file path=ppt/presentation.xml><?xml version="1.0" encoding="utf-8"?>
<p:presentation xmlns:p="http://schemas.openxmlformats.org/presentationml/2006/main" saveSubsetFonts="1">
  <p:sldMasterIdLst>
    <p:sldMasterId xmlns:r="http://schemas.openxmlformats.org/officeDocument/2006/relationships" id="2147483648" r:id="rId1"/>
  </p:sldMasterIdLst>
  <p:notesMasterIdLst>
    <p:notesMasterId xmlns:r="http://schemas.openxmlformats.org/officeDocument/2006/relationships" r:id="Rd4a14ac6915643f1"/>
  </p:notesMasterIdLst>
  <p:sldIdLst>
    <p:sldId xmlns:r="http://schemas.openxmlformats.org/officeDocument/2006/relationships" id="256" r:id="rId2"/>
    <p:sldId xmlns:r="http://schemas.openxmlformats.org/officeDocument/2006/relationships" id="257" r:id="rId3"/>
  </p:sldIdLst>
  <p:sldSz cx="12191695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af4e22246efe40d9" /><Relationship Type="http://schemas.openxmlformats.org/officeDocument/2006/relationships/slide" Target="/ppt/slides/slide2.xml" Id="rId2" /><Relationship Type="http://schemas.openxmlformats.org/officeDocument/2006/relationships/presProps" Target="/ppt/presProps.xml" Id="Reaf7b76d6ebd4e3a" /><Relationship Type="http://schemas.openxmlformats.org/officeDocument/2006/relationships/viewProps" Target="/ppt/viewProps.xml" Id="R9e697db4fd8a4888" /><Relationship Type="http://schemas.openxmlformats.org/officeDocument/2006/relationships/tableStyles" Target="/ppt/tableStyles.xml" Id="R61eadeb3ed2e4b28" /><Relationship Type="http://schemas.openxmlformats.org/officeDocument/2006/relationships/notesMaster" Target="/ppt/notesMasters/notesMaster1.xml" Id="Rd4a14ac6915643f1" /><Relationship Type="http://schemas.openxmlformats.org/officeDocument/2006/relationships/slide" Target="/ppt/slides/slide3.xml" Id="rId3" /></Relationships>
</file>

<file path=ppt/charts/_rels/chart11.xml.rels>&#65279;<?xml version="1.0" encoding="utf-8"?><Relationships xmlns="http://schemas.openxmlformats.org/package/2006/relationships"><Relationship Type="http://schemas.microsoft.com/office/2011/relationships/chartStyle" Target="/ppt/charts/style1.xml" Id="Rc7cb2ec1e7294d99" /><Relationship Type="http://schemas.microsoft.com/office/2011/relationships/chartColorStyle" Target="/ppt/charts/colors1.xml" Id="Rf263257f3a1548f7" /><Relationship Type="http://schemas.openxmlformats.org/officeDocument/2006/relationships/package" Target="/ppt/embeddings/Microsoft_Excel_Worksheet1.xlsx" Id="Rdca4b051a5fd441f" 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Completed conversions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185</c:v>
                </c:pt>
                <c:pt idx="2">
                  <c:v>240</c:v>
                </c:pt>
                <c:pt idx="3">
                  <c:v>318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68</c:v>
                </c:pt>
                <c:pt idx="2">
                  <c:v>96</c:v>
                </c:pt>
                <c:pt idx="3">
                  <c:v>132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3"/>
        <c:axId val="48650114"/>
      </c:barChart>
      <c:catAx>
        <c:axId val="4865011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48650114"/>
        <c:crosses val="autoZero"/>
        <c:auto val="1"/>
        <c:lblAlgn val="ctr"/>
        <c:lblOffset val="100"/>
        <c:noMultiLvlLbl val="0"/>
      </c:catAx>
      <c:valAx>
        <c:axId val="48650114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48650113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0"/>
  </c:chart>
  <c:externalData r:id="Rdca4b051a5fd441f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d577a6a88f84e77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2c0f452af04e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eea3e1bbb848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cc323107ef42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1b38a094844a3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30597cdba4e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fa40f4955463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8730b785d446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5a2a485f64f4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a5e511b78a4b9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19f6aab1e147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91e4f18c1948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Relationship Type="http://schemas.openxmlformats.org/officeDocument/2006/relationships/slideLayout" Target="/ppt/slideLayouts/slideLayout6.xml" Id="rId6" /><Relationship Type="http://schemas.openxmlformats.org/officeDocument/2006/relationships/slideLayout" Target="/ppt/slideLayouts/slideLayout7.xml" Id="rId7" /><Relationship Type="http://schemas.openxmlformats.org/officeDocument/2006/relationships/slideLayout" Target="/ppt/slideLayouts/slideLayout8.xml" Id="rId8" /><Relationship Type="http://schemas.openxmlformats.org/officeDocument/2006/relationships/slideLayout" Target="/ppt/slideLayouts/slideLayout9.xml" Id="rId9" /><Relationship Type="http://schemas.openxmlformats.org/officeDocument/2006/relationships/slideLayout" Target="/ppt/slideLayouts/slideLayout10.xml" Id="rId10" /><Relationship Type="http://schemas.openxmlformats.org/officeDocument/2006/relationships/slideLayout" Target="/ppt/slideLayouts/slideLayout11.xml" Id="rId11" /><Relationship Type="http://schemas.openxmlformats.org/officeDocument/2006/relationships/theme" Target="/ppt/theme/theme1.xml" Id="r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  <p:sldLayoutId xmlns:r="http://schemas.openxmlformats.org/officeDocument/2006/relationships" id="2147483654" r:id="rId6"/>
    <p:sldLayoutId xmlns:r="http://schemas.openxmlformats.org/officeDocument/2006/relationships" id="2147483655" r:id="rId7"/>
    <p:sldLayoutId xmlns:r="http://schemas.openxmlformats.org/officeDocument/2006/relationships" id="2147483656" r:id="rId8"/>
    <p:sldLayoutId xmlns:r="http://schemas.openxmlformats.org/officeDocument/2006/relationships" id="2147483657" r:id="rId9"/>
    <p:sldLayoutId xmlns:r="http://schemas.openxmlformats.org/officeDocument/2006/relationships" id="2147483658" r:id="rId10"/>
    <p:sldLayoutId xmlns:r="http://schemas.openxmlformats.org/officeDocument/2006/relationships" id="2147483659" r:id="rId11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chart" Target="/ppt/charts/chart11.xml" Id="R0682a1ff74da4a9d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OfficeIMO conversion proof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Editable PowerPoint content rendered locally to PDF</a:t>
            </a:r>
          </a:p>
        </p:txBody>
      </p:sp>
      <p:sp>
        <p:nvSpPr>
          <p:cNvPr id="4" name="browser rout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5875">
            <a:solidFill>
              <a:srgbClr val="2563EB"/>
            </a:solidFill>
          </a:ln>
        </p:spPr>
      </p:sp>
      <p:sp>
        <p:nvSpPr>
          <p:cNvPr id="5" name="TextBox 3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2563EB"/>
                </a:solidFill>
                <a:latin typeface="Carlito"/>
              </a:rPr>
              <a:t>12</a:t>
            </a:r>
          </a:p>
        </p:txBody>
      </p:sp>
      <p:sp>
        <p:nvSpPr>
          <p:cNvPr id="6" name="TextBox 4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browser routes</a:t>
            </a:r>
          </a:p>
        </p:txBody>
      </p:sp>
      <p:sp>
        <p:nvSpPr>
          <p:cNvPr id="7" name="local processing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8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0"/>
          </a:solidFill>
          <a:ln xmlns:a="http://schemas.openxmlformats.org/drawingml/2006/main" w="15875">
            <a:solidFill>
              <a:srgbClr val="07875B"/>
            </a:solidFill>
          </a:ln>
        </p:spPr>
      </p:sp>
      <p:sp>
        <p:nvSpPr>
          <p:cNvPr id="8" name="TextBox 5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07875B"/>
                </a:solidFill>
                <a:latin typeface="Carlito"/>
              </a:rPr>
              <a:t>100%</a:t>
            </a:r>
          </a:p>
        </p:txBody>
      </p:sp>
      <p:sp>
        <p:nvSpPr>
          <p:cNvPr id="9" name="TextBox 6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local processing</a:t>
            </a:r>
          </a:p>
        </p:txBody>
      </p:sp>
      <p:sp>
        <p:nvSpPr>
          <p:cNvPr id="10" name="server upload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2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E8"/>
          </a:solidFill>
          <a:ln xmlns:a="http://schemas.openxmlformats.org/drawingml/2006/main" w="15875">
            <a:solidFill>
              <a:srgbClr val="C2410C"/>
            </a:solidFill>
          </a:ln>
        </p:spPr>
      </p:sp>
      <p:sp>
        <p:nvSpPr>
          <p:cNvPr id="11" name="TextBox 7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C2410C"/>
                </a:solidFill>
                <a:latin typeface="Carlito"/>
              </a:rPr>
              <a:t>0</a:t>
            </a:r>
          </a:p>
        </p:txBody>
      </p:sp>
      <p:sp>
        <p:nvSpPr>
          <p:cNvPr id="12" name="TextBox 8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server uploads</a:t>
            </a:r>
          </a:p>
        </p:txBody>
      </p:sp>
      <p:graphicFrame>
        <p:nvGraphicFramePr>
          <p:cNvPr id="13" name="Table 1"/>
          <p:cNvGraphicFramePr/>
          <p:nvPr/>
        </p:nvGraphicFramePr>
        <p:xfrm>
          <a:off xmlns:a="http://schemas.openxmlformats.org/drawingml/2006/main" x="533400" y="3200400"/>
          <a:ext xmlns:a="http://schemas.openxmlformats.org/drawingml/2006/main" cx="8204200" cy="2413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4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Workstream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Owner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Status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PDF rendering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Drawing 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Editable imports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Format adapters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Targeted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Browser workbench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WebAssembly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Local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Quarterly conversion volume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Native chart data, title, axes, legend, and series</a:t>
            </a:r>
          </a:p>
        </p:txBody>
      </p:sp>
      <p:graphicFrame>
        <p:nvGraphicFramePr>
          <p:cNvPr id="4" name="Quarterly conversion volume" descr="Document and report conversion volume increases from Q1 through Q4.&#13;&#10;&#13;&#10;Data summary:&#13;&#10;Chart kind: ColumnClustered&#13;&#10;Category&#9;Documents&#9;Reports&#13;&#10;Q1&#9;120&#9;42&#13;&#10;Q2&#9;185&#9;68&#13;&#10;Q3&#9;240&#9;96&#13;&#10;Q4&#9;318&#9;132"/>
          <p:cNvGraphicFramePr/>
          <p:nvPr/>
        </p:nvGraphicFramePr>
        <p:xfrm>
          <a:off xmlns:a="http://schemas.openxmlformats.org/drawingml/2006/main" x="838200" y="1625600"/>
          <a:ext xmlns:a="http://schemas.openxmlformats.org/drawingml/2006/main" cx="7620000" cy="393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82a1ff74da4a9d"/>
          </a:graphicData>
        </a:graphic>
      </p:graphicFrame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0</ap:Notes>
  <ap:Slides>2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OfficeIMO</dc:creator>
  <lastModifiedBy>OfficeIMO</lastModifiedBy>
  <dcterms:created xsi:type="dcterms:W3CDTF">2026-08-17T21:23:04.0000000Z</dcterms:created>
  <dcterms:modified xsi:type="dcterms:W3CDTF">2026-08-17T21:23:04.3490051Z</dcterms:modified>
</coreProperties>
</file>