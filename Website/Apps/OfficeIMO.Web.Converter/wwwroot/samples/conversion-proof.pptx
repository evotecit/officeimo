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eg" ContentType="image/jpeg"/>
  <Default Extension="rels" ContentType="application/vnd.openxmlformats-package.relationships+xml"/>
  <Default Extension="xlsx" ContentType="application/vnd.openxmlformats-officedocument.spreadsheetml.sheet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docProps/app.xml" ContentType="application/vnd.openxmlformats-officedocument.extended-properties+xml"/>
  <Override PartName="/docProps/core.xml" ContentType="application/vnd.openxmlformats-package.core-propertie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charts/chart1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797906b50b694c45" /><Relationship Type="http://schemas.openxmlformats.org/officeDocument/2006/relationships/extended-properties" Target="/docProps/app.xml" Id="R3aba3ffc31b84d1c" /><Relationship Type="http://schemas.openxmlformats.org/package/2006/relationships/metadata/core-properties" Target="/docProps/core.xml" Id="Rd11de765ca0d47a9" /><Relationship Type="http://schemas.openxmlformats.org/package/2006/relationships/metadata/thumbnail" Target="/docProps/thumbnail.jpeg" Id="R953cd206b4f243dd" /></Relationships>
</file>

<file path=ppt/presentation.xml><?xml version="1.0" encoding="utf-8"?>
<p:presentation xmlns:p="http://schemas.openxmlformats.org/presentationml/2006/main" saveSubsetFonts="1">
  <p:sldMasterIdLst>
    <p:sldMasterId xmlns:r="http://schemas.openxmlformats.org/officeDocument/2006/relationships" id="2147483648" r:id="rId1"/>
  </p:sldMasterIdLst>
  <p:notesMasterIdLst>
    <p:notesMasterId xmlns:r="http://schemas.openxmlformats.org/officeDocument/2006/relationships" r:id="Rc8025739975a426b"/>
  </p:notesMasterIdLst>
  <p:sldIdLst>
    <p:sldId xmlns:r="http://schemas.openxmlformats.org/officeDocument/2006/relationships" id="256" r:id="rId2"/>
    <p:sldId xmlns:r="http://schemas.openxmlformats.org/officeDocument/2006/relationships" id="257" r:id="rId3"/>
  </p:sldIdLst>
  <p:sldSz cx="12191695" cy="6858000" type="screen16x9"/>
  <p:notesSz cx="6858000" cy="9144000"/>
  <p:defaultTextStyle/>
</p:presentation>
</file>

<file path=ppt/presProps.xml><?xml version="1.0" encoding="utf-8"?>
<p:presentationPr xmlns:p="http://schemas.openxmlformats.org/presentationml/2006/main">
  <p:showPr showNarration="0" showAnimation="1" useTimings="1"/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Dark Style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xmlns:a="http://schemas.openxmlformats.org/drawingml/2006/main" n="142" d="100"/>
          <a:sy xmlns:a="http://schemas.openxmlformats.org/drawingml/2006/main" n="142" d="100"/>
        </p:scale>
        <p:origin x="0" y="0"/>
      </p:cViewPr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a7ae849e8c714085" /><Relationship Type="http://schemas.openxmlformats.org/officeDocument/2006/relationships/presProps" Target="/ppt/presProps.xml" Id="R14f14e12931742ab" /><Relationship Type="http://schemas.openxmlformats.org/officeDocument/2006/relationships/viewProps" Target="/ppt/viewProps.xml" Id="Rbb76a39b524c456b" /><Relationship Type="http://schemas.openxmlformats.org/officeDocument/2006/relationships/tableStyles" Target="/ppt/tableStyles.xml" Id="Rb5aee2d335764d28" /><Relationship Type="http://schemas.openxmlformats.org/officeDocument/2006/relationships/notesMaster" Target="/ppt/notesMasters/notesMaster1.xml" Id="Rc8025739975a426b" /><Relationship Type="http://schemas.openxmlformats.org/officeDocument/2006/relationships/slide" Target="/ppt/slides/slide2.xml" Id="rId2" /><Relationship Type="http://schemas.openxmlformats.org/officeDocument/2006/relationships/slide" Target="/ppt/slides/slide3.xml" Id="rId3" /></Relationships>
</file>

<file path=ppt/charts/_rels/chart11.xml.rels>&#65279;<?xml version="1.0" encoding="utf-8"?><Relationships xmlns="http://schemas.openxmlformats.org/package/2006/relationships"><Relationship Type="http://schemas.microsoft.com/office/2011/relationships/chartStyle" Target="/ppt/charts/style1.xml" Id="R99035672f9024b6d" /><Relationship Type="http://schemas.microsoft.com/office/2011/relationships/chartColorStyle" Target="/ppt/charts/colors1.xml" Id="R5849c5f6712e4b2b" /><Relationship Type="http://schemas.openxmlformats.org/officeDocument/2006/relationships/package" Target="/ppt/embeddings/Microsoft_Excel_Worksheet1.xlsx" Id="Rdecfcbad0a6d461e" /></Relationships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title>
      <c:tx>
        <c:rich>
          <a:bodyPr/>
          <a:lstStyle/>
          <a:p>
            <a:r>
              <a:rPr lang="en-US"/>
              <a:t>Completed conversions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Documents</c:v>
                </c:pt>
              </c:strCache>
            </c:strRef>
          </c:tx>
          <c:invertIfNegative val="0"/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185</c:v>
                </c:pt>
                <c:pt idx="2">
                  <c:v>240</c:v>
                </c:pt>
                <c:pt idx="3">
                  <c:v>318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Reports</c:v>
                </c:pt>
              </c:strCache>
            </c:strRef>
          </c:tx>
          <c:invertIfNegative val="0"/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42</c:v>
                </c:pt>
                <c:pt idx="1">
                  <c:v>68</c:v>
                </c:pt>
                <c:pt idx="2">
                  <c:v>96</c:v>
                </c:pt>
                <c:pt idx="3">
                  <c:v>132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0"/>
        <c:axId val="48650113"/>
        <c:axId val="48650114"/>
      </c:barChart>
      <c:catAx>
        <c:axId val="4865011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crossAx val="48650114"/>
        <c:crosses val="autoZero"/>
        <c:auto val="1"/>
        <c:lblAlgn val="ctr"/>
        <c:lblOffset val="100"/>
        <c:noMultiLvlLbl val="0"/>
      </c:catAx>
      <c:valAx>
        <c:axId val="48650114"/>
        <c:scaling>
          <c:orientation val="minMax"/>
        </c:scaling>
        <c:delete val="0"/>
        <c:axPos val="l"/>
        <c:majorGridlines/>
        <c:numFmt formatCode="General" sourceLinked="1"/>
        <c:majorTickMark val="none"/>
        <c:minorTickMark val="none"/>
        <c:tickLblPos val="nextTo"/>
        <c:crossAx val="48650113"/>
        <c:crosses val="autoZero"/>
        <c:crossBetween val="between"/>
      </c:valAx>
    </c:plotArea>
    <c:legend>
      <c:legendPos val="b"/>
      <c:layout/>
      <c:overlay val="0"/>
    </c:legend>
    <c:plotVisOnly val="1"/>
    <c:dispBlanksAs val="gap"/>
    <c:showDLblsOverMax val="0"/>
  </c:chart>
  <c:externalData r:id="Rdecfcbad0a6d461e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2b21da12ac004315" /></Relationships>
</file>

<file path=ppt/notesMasters/notesMaster1.xml><?xml version="1.0" encoding="utf-8"?>
<p:notesMaster xmlns:p="http://schemas.openxmlformats.org/presentationml/2006/main">
  <p:cSld>
    <p:bg>
      <p:bgPr>
        <a:noFill xmlns:a="http://schemas.openxmlformats.org/drawingml/2006/main"/>
      </p:bgPr>
    </p:bg>
    <p:spTree>
      <p:nvGrpSpPr>
        <p:cNvPr id="1" name="Notes Group Shape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Notes Placeholder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lide Image Placeholder"/>
          <p:cNvSpPr/>
          <p:nvPr>
            <p:ph type="sldImg" idx="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Date Placeholder"/>
          <p:cNvSpPr/>
          <p:nvPr>
            <p:ph type="dt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5" name="Slide Number Placeholder"/>
          <p:cNvSpPr/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6" name="Footer Placeholder"/>
          <p:cNvSpPr/>
          <p:nvPr>
            <p:ph type="ftr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>
      <a:defRPr lang="en-US"/>
    </a:lvl1pPr>
    <a:lvl2pPr xmlns:a="http://schemas.openxmlformats.org/drawingml/2006/main">
      <a:defRPr lang="en-US"/>
    </a:lvl2pPr>
    <a:lvl3pPr xmlns:a="http://schemas.openxmlformats.org/drawingml/2006/main">
      <a:defRPr lang="en-US"/>
    </a:lvl3pPr>
    <a:lvl4pPr xmlns:a="http://schemas.openxmlformats.org/drawingml/2006/main">
      <a:defRPr lang="en-US"/>
    </a:lvl4pPr>
    <a:lvl5pPr xmlns:a="http://schemas.openxmlformats.org/drawingml/2006/main">
      <a:defRPr lang="en-US"/>
    </a:lvl5pPr>
    <a:lvl6pPr xmlns:a="http://schemas.openxmlformats.org/drawingml/2006/main">
      <a:defRPr lang="en-US"/>
    </a:lvl6pPr>
    <a:lvl7pPr xmlns:a="http://schemas.openxmlformats.org/drawingml/2006/main">
      <a:defRPr lang="en-US"/>
    </a:lvl7pPr>
    <a:lvl8pPr xmlns:a="http://schemas.openxmlformats.org/drawingml/2006/main">
      <a:defRPr lang="en-US"/>
    </a:lvl8pPr>
    <a:lvl9pPr xmlns:a="http://schemas.openxmlformats.org/drawingml/2006/main">
      <a:defRPr lang="en-US"/>
    </a:lvl9pPr>
  </p:notesStyle>
</p:notesMaster>
</file>

<file path=ppt/notesMasters/theme/theme2.xml><?xml version="1.0" encoding="utf-8"?>
<a:theme xmlns:thm15="http://schemas.microsoft.com/office/thememl/2012/main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ba63cdcd014d2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fd69667f394d2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c6ddcb0244a442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3f81a1a8534a7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49ce07d78f4dd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b71da14ff8a4ebd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230db5a87b4401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3bbd6a5f59f4ca7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722a791a6c4b6f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ba6a48147954329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16d3e5314bd47d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7772400" cy="1470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 Placeholder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838200" y="2174875"/>
            <a:ext cx="7772400" cy="1470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p="http://schemas.openxmlformats.org/presentationml/2006/main" type="tx">
  <p:cSld name="Title and Cont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7772400" cy="1470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2174875"/>
            <a:ext cx="77724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Section Header Title 1"/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838200" y="365125"/>
            <a:ext cx="7772400" cy="1470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ection Header Text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2174875"/>
            <a:ext cx="7772400" cy="1470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wo Content Title 1"/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7772400" cy="1470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2174875"/>
            <a:ext cx="36576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Placeholder 3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127500" y="2174875"/>
            <a:ext cx="36576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twoObj">
  <p:cSld name="Comparison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omparison Title 1"/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365125"/>
            <a:ext cx="804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Left 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899158"/>
            <a:ext cx="3889375" cy="35048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Right Text Placeholder 3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457200" y="899158"/>
            <a:ext cx="3889375" cy="35048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6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7772400" cy="1470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7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Layouts/slideLayout8.xml><?xml version="1.0" encoding="utf-8"?>
<p:sldLayout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Picture Title 1"/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77724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Picture Placeholder 3"/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838200" y="760000"/>
            <a:ext cx="7772400" cy="101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aption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912625"/>
            <a:ext cx="77724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9.xml><?xml version="1.0" encoding="utf-8"?>
<p:sldLayout xmlns:p="http://schemas.openxmlformats.org/presentationml/2006/main" type="vertTitleAndTx">
  <p:cSld name="Title and Vertical Tex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914400" y="365125"/>
            <a:ext cx="18288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Vertical Text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743200" y="365125"/>
            <a:ext cx="54864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10.xml><?xml version="1.0" encoding="utf-8"?>
<p:sldLayout xmlns:p="http://schemas.openxmlformats.org/presentationml/2006/main" type="vertTx">
  <p:cSld name="Vertical Title and Tex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914400" y="365125"/>
            <a:ext cx="27432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65125" y="365125"/>
            <a:ext cx="9144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11.xml><?xml version="1.0" encoding="utf-8"?>
<p:sldLayout xmlns:p="http://schemas.openxmlformats.org/presentationml/2006/main" type="twoObj">
  <p:cSld name="Two Content with Caption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7772400" cy="1470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2174875"/>
            <a:ext cx="36576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Placeholder 3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127500" y="2174875"/>
            <a:ext cx="36576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5" name="Caption Placeholder 4"/>
          <p:cNvSpPr>
            <a:spLocks xmlns:a="http://schemas.openxmlformats.org/drawingml/2006/main" noGrp="1"/>
          </p:cNvSpPr>
          <p:nvPr>
            <p:ph type="obj" idx="3"/>
          </p:nvPr>
        </p:nvSpPr>
        <p:spPr>
          <a:xfrm xmlns:a="http://schemas.openxmlformats.org/drawingml/2006/main">
            <a:off x="685800" y="6200000"/>
            <a:ext cx="7090000" cy="6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Relationship Type="http://schemas.openxmlformats.org/officeDocument/2006/relationships/slideLayout" Target="/ppt/slideLayouts/slideLayout6.xml" Id="rId6" /><Relationship Type="http://schemas.openxmlformats.org/officeDocument/2006/relationships/slideLayout" Target="/ppt/slideLayouts/slideLayout7.xml" Id="rId7" /><Relationship Type="http://schemas.openxmlformats.org/officeDocument/2006/relationships/slideLayout" Target="/ppt/slideLayouts/slideLayout8.xml" Id="rId8" /><Relationship Type="http://schemas.openxmlformats.org/officeDocument/2006/relationships/slideLayout" Target="/ppt/slideLayouts/slideLayout9.xml" Id="rId9" /><Relationship Type="http://schemas.openxmlformats.org/officeDocument/2006/relationships/slideLayout" Target="/ppt/slideLayouts/slideLayout10.xml" Id="rId10" /><Relationship Type="http://schemas.openxmlformats.org/officeDocument/2006/relationships/slideLayout" Target="/ppt/slideLayouts/slideLayout11.xml" Id="rId11" /><Relationship Type="http://schemas.openxmlformats.org/officeDocument/2006/relationships/theme" Target="/ppt/theme/theme1.xml" Id="rId12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  <p:sldLayoutId xmlns:r="http://schemas.openxmlformats.org/officeDocument/2006/relationships" id="2147483654" r:id="rId6"/>
    <p:sldLayoutId xmlns:r="http://schemas.openxmlformats.org/officeDocument/2006/relationships" id="2147483655" r:id="rId7"/>
    <p:sldLayoutId xmlns:r="http://schemas.openxmlformats.org/officeDocument/2006/relationships" id="2147483656" r:id="rId8"/>
    <p:sldLayoutId xmlns:r="http://schemas.openxmlformats.org/officeDocument/2006/relationships" id="2147483657" r:id="rId9"/>
    <p:sldLayoutId xmlns:r="http://schemas.openxmlformats.org/officeDocument/2006/relationships" id="2147483658" r:id="rId10"/>
    <p:sldLayoutId xmlns:r="http://schemas.openxmlformats.org/officeDocument/2006/relationships" id="2147483659" r:id="rId11"/>
  </p:sldLayoutIdLst>
  <p:txStyles>
    <p:titleStyle/>
    <p:bodyStyle/>
    <p:otherStyle/>
  </p:txStyles>
</p:sldMaster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Id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Id1" /><Relationship Type="http://schemas.openxmlformats.org/officeDocument/2006/relationships/chart" Target="/ppt/charts/chart11.xml" Id="Rb1272a9c28bf4c6d" /></Relationships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extBox 1"/>
          <p:cNvSpPr>
            <a:spLocks xmlns:a="http://schemas.openxmlformats.org/drawingml/2006/main" noGrp="1"/>
          </p:cNvSpPr>
          <p:nvPr>
            <p:ph/>
          </p:nvPr>
        </p:nvSpPr>
        <p:spPr>
          <a:xfrm xmlns:a="http://schemas.openxmlformats.org/drawingml/2006/main">
            <a:off x="533400" y="355600"/>
            <a:ext cx="8255000" cy="584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/>
          </a:bodyPr>
          <a:lstStyle xmlns:a="http://schemas.openxmlformats.org/drawingml/2006/main"/>
          <a:p xmlns:a="http://schemas.openxmlformats.org/drawingml/2006/main">
            <a:r>
              <a:rPr sz="2800" b="1">
                <a:solidFill>
                  <a:srgbClr val="17324D"/>
                </a:solidFill>
                <a:latin typeface="Carlito"/>
              </a:rPr>
              <a:t>OfficeIMO conversion proof</a:t>
            </a:r>
          </a:p>
        </p:txBody>
      </p:sp>
      <p:sp>
        <p:nvSpPr>
          <p:cNvPr id="3" name="TextBox 2"/>
          <p:cNvSpPr>
            <a:spLocks xmlns:a="http://schemas.openxmlformats.org/drawingml/2006/main" noGrp="1"/>
          </p:cNvSpPr>
          <p:nvPr>
            <p:ph/>
          </p:nvPr>
        </p:nvSpPr>
        <p:spPr>
          <a:xfrm xmlns:a="http://schemas.openxmlformats.org/drawingml/2006/main">
            <a:off x="533400" y="965200"/>
            <a:ext cx="8255000" cy="330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/>
          </a:bodyPr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52657A"/>
                </a:solidFill>
                <a:latin typeface="Carlito"/>
              </a:rPr>
              <a:t>Editable PowerPoint content rendered locally to PDF</a:t>
            </a:r>
          </a:p>
        </p:txBody>
      </p:sp>
      <p:sp>
        <p:nvSpPr>
          <p:cNvPr id="4" name="browser routes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00200"/>
            <a:ext cx="2286000" cy="1168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F"/>
          </a:solidFill>
          <a:ln xmlns:a="http://schemas.openxmlformats.org/drawingml/2006/main" w="15875">
            <a:solidFill>
              <a:srgbClr val="2563EB"/>
            </a:solidFill>
          </a:ln>
        </p:spPr>
      </p:sp>
      <p:sp>
        <p:nvSpPr>
          <p:cNvPr id="5" name="TextBox 3"/>
          <p:cNvSpPr>
            <a:spLocks xmlns:a="http://schemas.openxmlformats.org/drawingml/2006/main" noGrp="1"/>
          </p:cNvSpPr>
          <p:nvPr>
            <p:ph/>
          </p:nvPr>
        </p:nvSpPr>
        <p:spPr>
          <a:xfrm xmlns:a="http://schemas.openxmlformats.org/drawingml/2006/main">
            <a:off x="711200" y="1752600"/>
            <a:ext cx="1905000" cy="43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/>
          </a:bodyPr>
          <a:lstStyle xmlns:a="http://schemas.openxmlformats.org/drawingml/2006/main"/>
          <a:p xmlns:a="http://schemas.openxmlformats.org/drawingml/2006/main">
            <a:r>
              <a:rPr sz="2400" b="1">
                <a:solidFill>
                  <a:srgbClr val="2563EB"/>
                </a:solidFill>
                <a:latin typeface="Carlito"/>
              </a:rPr>
              <a:t>12</a:t>
            </a:r>
          </a:p>
        </p:txBody>
      </p:sp>
      <p:sp>
        <p:nvSpPr>
          <p:cNvPr id="6" name="TextBox 4"/>
          <p:cNvSpPr>
            <a:spLocks xmlns:a="http://schemas.openxmlformats.org/drawingml/2006/main" noGrp="1"/>
          </p:cNvSpPr>
          <p:nvPr>
            <p:ph/>
          </p:nvPr>
        </p:nvSpPr>
        <p:spPr>
          <a:xfrm xmlns:a="http://schemas.openxmlformats.org/drawingml/2006/main">
            <a:off x="711200" y="2260600"/>
            <a:ext cx="1905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/>
          </a:bodyPr>
          <a:lstStyle xmlns:a="http://schemas.openxmlformats.org/drawingml/2006/main"/>
          <a:p xmlns:a="http://schemas.openxmlformats.org/drawingml/2006/main">
            <a:r>
              <a:rPr sz="1200">
                <a:solidFill>
                  <a:srgbClr val="52657A"/>
                </a:solidFill>
                <a:latin typeface="Carlito"/>
              </a:rPr>
              <a:t>browser routes</a:t>
            </a:r>
          </a:p>
        </p:txBody>
      </p:sp>
      <p:sp>
        <p:nvSpPr>
          <p:cNvPr id="7" name="local processing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8800" y="1600200"/>
            <a:ext cx="2286000" cy="1168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8F0"/>
          </a:solidFill>
          <a:ln xmlns:a="http://schemas.openxmlformats.org/drawingml/2006/main" w="15875">
            <a:solidFill>
              <a:srgbClr val="07875B"/>
            </a:solidFill>
          </a:ln>
        </p:spPr>
      </p:sp>
      <p:sp>
        <p:nvSpPr>
          <p:cNvPr id="8" name="TextBox 5"/>
          <p:cNvSpPr>
            <a:spLocks xmlns:a="http://schemas.openxmlformats.org/drawingml/2006/main" noGrp="1"/>
          </p:cNvSpPr>
          <p:nvPr>
            <p:ph/>
          </p:nvPr>
        </p:nvSpPr>
        <p:spPr>
          <a:xfrm xmlns:a="http://schemas.openxmlformats.org/drawingml/2006/main">
            <a:off x="3276600" y="1752600"/>
            <a:ext cx="1905000" cy="43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/>
          </a:bodyPr>
          <a:lstStyle xmlns:a="http://schemas.openxmlformats.org/drawingml/2006/main"/>
          <a:p xmlns:a="http://schemas.openxmlformats.org/drawingml/2006/main">
            <a:r>
              <a:rPr sz="2400" b="1">
                <a:solidFill>
                  <a:srgbClr val="07875B"/>
                </a:solidFill>
                <a:latin typeface="Carlito"/>
              </a:rPr>
              <a:t>100%</a:t>
            </a:r>
          </a:p>
        </p:txBody>
      </p:sp>
      <p:sp>
        <p:nvSpPr>
          <p:cNvPr id="9" name="TextBox 6"/>
          <p:cNvSpPr>
            <a:spLocks xmlns:a="http://schemas.openxmlformats.org/drawingml/2006/main" noGrp="1"/>
          </p:cNvSpPr>
          <p:nvPr>
            <p:ph/>
          </p:nvPr>
        </p:nvSpPr>
        <p:spPr>
          <a:xfrm xmlns:a="http://schemas.openxmlformats.org/drawingml/2006/main">
            <a:off x="3276600" y="2260600"/>
            <a:ext cx="1905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/>
          </a:bodyPr>
          <a:lstStyle xmlns:a="http://schemas.openxmlformats.org/drawingml/2006/main"/>
          <a:p xmlns:a="http://schemas.openxmlformats.org/drawingml/2006/main">
            <a:r>
              <a:rPr sz="1200">
                <a:solidFill>
                  <a:srgbClr val="52657A"/>
                </a:solidFill>
                <a:latin typeface="Carlito"/>
              </a:rPr>
              <a:t>local processing</a:t>
            </a:r>
          </a:p>
        </p:txBody>
      </p:sp>
      <p:sp>
        <p:nvSpPr>
          <p:cNvPr id="10" name="server uploads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4200" y="1600200"/>
            <a:ext cx="2286000" cy="1168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2E8"/>
          </a:solidFill>
          <a:ln xmlns:a="http://schemas.openxmlformats.org/drawingml/2006/main" w="15875">
            <a:solidFill>
              <a:srgbClr val="C2410C"/>
            </a:solidFill>
          </a:ln>
        </p:spPr>
      </p:sp>
      <p:sp>
        <p:nvSpPr>
          <p:cNvPr id="11" name="TextBox 7"/>
          <p:cNvSpPr>
            <a:spLocks xmlns:a="http://schemas.openxmlformats.org/drawingml/2006/main" noGrp="1"/>
          </p:cNvSpPr>
          <p:nvPr>
            <p:ph/>
          </p:nvPr>
        </p:nvSpPr>
        <p:spPr>
          <a:xfrm xmlns:a="http://schemas.openxmlformats.org/drawingml/2006/main">
            <a:off x="5842000" y="1752600"/>
            <a:ext cx="1905000" cy="43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/>
          </a:bodyPr>
          <a:lstStyle xmlns:a="http://schemas.openxmlformats.org/drawingml/2006/main"/>
          <a:p xmlns:a="http://schemas.openxmlformats.org/drawingml/2006/main">
            <a:r>
              <a:rPr sz="2400" b="1">
                <a:solidFill>
                  <a:srgbClr val="C2410C"/>
                </a:solidFill>
                <a:latin typeface="Carlito"/>
              </a:rPr>
              <a:t>0</a:t>
            </a:r>
          </a:p>
        </p:txBody>
      </p:sp>
      <p:sp>
        <p:nvSpPr>
          <p:cNvPr id="12" name="TextBox 8"/>
          <p:cNvSpPr>
            <a:spLocks xmlns:a="http://schemas.openxmlformats.org/drawingml/2006/main" noGrp="1"/>
          </p:cNvSpPr>
          <p:nvPr>
            <p:ph/>
          </p:nvPr>
        </p:nvSpPr>
        <p:spPr>
          <a:xfrm xmlns:a="http://schemas.openxmlformats.org/drawingml/2006/main">
            <a:off x="5842000" y="2260600"/>
            <a:ext cx="1905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/>
          </a:bodyPr>
          <a:lstStyle xmlns:a="http://schemas.openxmlformats.org/drawingml/2006/main"/>
          <a:p xmlns:a="http://schemas.openxmlformats.org/drawingml/2006/main">
            <a:r>
              <a:rPr sz="1200">
                <a:solidFill>
                  <a:srgbClr val="52657A"/>
                </a:solidFill>
                <a:latin typeface="Carlito"/>
              </a:rPr>
              <a:t>server uploads</a:t>
            </a:r>
          </a:p>
        </p:txBody>
      </p:sp>
      <p:graphicFrame>
        <p:nvGraphicFramePr>
          <p:cNvPr id="13" name="Table 1"/>
          <p:cNvGraphicFramePr/>
          <p:nvPr/>
        </p:nvGraphicFramePr>
        <p:xfrm>
          <a:off xmlns:a="http://schemas.openxmlformats.org/drawingml/2006/main" x="533400" y="3200400"/>
          <a:ext xmlns:a="http://schemas.openxmlformats.org/drawingml/2006/main" cx="8204200" cy="24130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47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347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347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3250">
                <a:tc>
                  <a:txBody>
                    <a:bodyPr/>
                    <a:lstStyle/>
                    <a:p>
                      <a:r>
                        <a:rPr lang="en-US"/>
                        <a:t>Workstream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Owner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Status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250">
                <a:tc>
                  <a:txBody>
                    <a:bodyPr/>
                    <a:lstStyle/>
                    <a:p>
                      <a:r>
                        <a:rPr lang="en-US"/>
                        <a:t>PDF rendering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Drawing core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Advanced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250">
                <a:tc>
                  <a:txBody>
                    <a:bodyPr/>
                    <a:lstStyle/>
                    <a:p>
                      <a:r>
                        <a:rPr lang="en-US"/>
                        <a:t>Editable imports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Format adapters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Targeted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3250">
                <a:tc>
                  <a:txBody>
                    <a:bodyPr/>
                    <a:lstStyle/>
                    <a:p>
                      <a:r>
                        <a:rPr lang="en-US"/>
                        <a:t>Browser workbench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WebAssembly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Local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extBox 1"/>
          <p:cNvSpPr>
            <a:spLocks xmlns:a="http://schemas.openxmlformats.org/drawingml/2006/main" noGrp="1"/>
          </p:cNvSpPr>
          <p:nvPr>
            <p:ph/>
          </p:nvPr>
        </p:nvSpPr>
        <p:spPr>
          <a:xfrm xmlns:a="http://schemas.openxmlformats.org/drawingml/2006/main">
            <a:off x="533400" y="355600"/>
            <a:ext cx="8255000" cy="584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/>
          </a:bodyPr>
          <a:lstStyle xmlns:a="http://schemas.openxmlformats.org/drawingml/2006/main"/>
          <a:p xmlns:a="http://schemas.openxmlformats.org/drawingml/2006/main">
            <a:r>
              <a:rPr sz="2800" b="1">
                <a:solidFill>
                  <a:srgbClr val="17324D"/>
                </a:solidFill>
                <a:latin typeface="Carlito"/>
              </a:rPr>
              <a:t>Quarterly conversion volume</a:t>
            </a:r>
          </a:p>
        </p:txBody>
      </p:sp>
      <p:sp>
        <p:nvSpPr>
          <p:cNvPr id="3" name="TextBox 2"/>
          <p:cNvSpPr>
            <a:spLocks xmlns:a="http://schemas.openxmlformats.org/drawingml/2006/main" noGrp="1"/>
          </p:cNvSpPr>
          <p:nvPr>
            <p:ph/>
          </p:nvPr>
        </p:nvSpPr>
        <p:spPr>
          <a:xfrm xmlns:a="http://schemas.openxmlformats.org/drawingml/2006/main">
            <a:off x="533400" y="965200"/>
            <a:ext cx="8255000" cy="330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/>
          </a:bodyPr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52657A"/>
                </a:solidFill>
                <a:latin typeface="Carlito"/>
              </a:rPr>
              <a:t>Native chart data, title, axes, legend, and series</a:t>
            </a:r>
          </a:p>
        </p:txBody>
      </p:sp>
      <p:graphicFrame>
        <p:nvGraphicFramePr>
          <p:cNvPr id="4" name="Quarterly conversion volume" descr="Document and report conversion volume increases from Q1 through Q4.&#13;&#10;&#13;&#10;Data summary:&#13;&#10;Chart kind: ColumnClustered&#13;&#10;Category&#9;Documents&#9;Reports&#13;&#10;Q1&#9;120&#9;42&#13;&#10;Q2&#9;185&#9;68&#13;&#10;Q3&#9;240&#9;96&#13;&#10;Q4&#9;318&#9;132"/>
          <p:cNvGraphicFramePr/>
          <p:nvPr/>
        </p:nvGraphicFramePr>
        <p:xfrm>
          <a:off xmlns:a="http://schemas.openxmlformats.org/drawingml/2006/main" x="838200" y="1625600"/>
          <a:ext xmlns:a="http://schemas.openxmlformats.org/drawingml/2006/main" cx="7620000" cy="3937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1272a9c28bf4c6d"/>
          </a:graphicData>
        </a:graphic>
      </p:graphicFrame>
    </p:spTree>
  </p:cSld>
  <p:clrMapOvr>
    <a:masterClrMapping xmlns:a="http://schemas.openxmlformats.org/drawingml/2006/main"/>
  </p:clrMapOvr>
</p:sld>
</file>

<file path=ppt/theme/theme1.xml><?xml version="1.0" encoding="utf-8"?>
<a:theme xmlns:thm15="http://schemas.microsoft.com/office/thememl/2012/main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ap:Properties xmlns:ap="http://schemas.openxmlformats.org/officeDocument/2006/extended-properties">
  <ap:TotalTime>0</ap:TotalTime>
  <ap:HiddenSlides>0</ap:HiddenSlides>
  <ap:Notes>0</ap:Notes>
  <ap:Slides>2</ap:Slides>
  <ap:PresentationFormat>Widescreen</ap:PresentationFormat>
  <ap:Application>Microsoft Office PowerPoint</ap:Application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OfficeIMO</dc:creator>
  <lastModifiedBy>OfficeIMO</lastModifiedBy>
  <dcterms:created xsi:type="dcterms:W3CDTF">2026-08-27T15:49:38.0000000Z</dcterms:created>
  <dcterms:modified xsi:type="dcterms:W3CDTF">2026-08-27T15:49:38.5572554Z</dcterms:modified>
</coreProperties>
</file>