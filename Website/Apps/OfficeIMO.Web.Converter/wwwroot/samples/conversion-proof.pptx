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xlsx" ContentType="application/vnd.openxmlformats-officedocument.spreadsheetml.sheet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e47b00d412047f7" /><Relationship Type="http://schemas.openxmlformats.org/officeDocument/2006/relationships/extended-properties" Target="/docProps/app.xml" Id="R01a21752e34a40be" /><Relationship Type="http://schemas.openxmlformats.org/package/2006/relationships/metadata/core-properties" Target="/docProps/core.xml" Id="Ra73b02b520544b27" /><Relationship Type="http://schemas.openxmlformats.org/package/2006/relationships/metadata/thumbnail" Target="/docProps/thumbnail.jpeg" Id="R343ac63e2d794b15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60f34eebfe5343f6"/>
  </p:notesMasterIdLst>
  <p:sldIdLst>
    <p:sldId xmlns:r="http://schemas.openxmlformats.org/officeDocument/2006/relationships" id="256" r:id="rId2"/>
    <p:sldId xmlns:r="http://schemas.openxmlformats.org/officeDocument/2006/relationships" id="257" r:id="rId3"/>
  </p:sldIdLst>
  <p:sldSz cx="12191695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27b55b378dae40dd" /><Relationship Type="http://schemas.openxmlformats.org/officeDocument/2006/relationships/presProps" Target="/ppt/presProps.xml" Id="Rcba8d4f848e248c7" /><Relationship Type="http://schemas.openxmlformats.org/officeDocument/2006/relationships/viewProps" Target="/ppt/viewProps.xml" Id="R9da583abbcf44a34" /><Relationship Type="http://schemas.openxmlformats.org/officeDocument/2006/relationships/tableStyles" Target="/ppt/tableStyles.xml" Id="R742f4789adec4caf" /><Relationship Type="http://schemas.openxmlformats.org/officeDocument/2006/relationships/notesMaster" Target="/ppt/notesMasters/notesMaster1.xml" Id="R60f34eebfe5343f6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/Relationships>
</file>

<file path=ppt/charts/_rels/chart11.xml.rels>&#65279;<?xml version="1.0" encoding="utf-8"?><Relationships xmlns="http://schemas.openxmlformats.org/package/2006/relationships"><Relationship Type="http://schemas.microsoft.com/office/2011/relationships/chartStyle" Target="/ppt/charts/style1.xml" Id="R7e5d2fe354374ac2" /><Relationship Type="http://schemas.microsoft.com/office/2011/relationships/chartColorStyle" Target="/ppt/charts/colors1.xml" Id="R2ecea3114135444c" /><Relationship Type="http://schemas.openxmlformats.org/officeDocument/2006/relationships/package" Target="/ppt/embeddings/Microsoft_Excel_Worksheet1.xlsx" Id="R392c02087f6d4df4" 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/>
              <a:t>Completed conversions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1F4E79"/>
            </a:solidFill>
            <a:ln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185</c:v>
                </c:pt>
                <c:pt idx="2">
                  <c:v>240</c:v>
                </c:pt>
                <c:pt idx="3">
                  <c:v>318</c:v>
                </c:pt>
              </c:numCache>
            </c:numRef>
          </c:val>
          <c:extLst>
            <c:ext uri="urn:officeimo:chart:auto-series-color:1">
              <oi:autoColor xmlns:oi="urn:officeimo:chart:auto-series-color:1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Reports</c:v>
                </c:pt>
              </c:strCache>
            </c:strRef>
          </c:tx>
          <c:spPr>
            <a:solidFill>
              <a:srgbClr val="2F6F3E"/>
            </a:solidFill>
            <a:ln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96</c:v>
                </c:pt>
                <c:pt idx="3">
                  <c:v>132</c:v>
                </c:pt>
              </c:numCache>
            </c:numRef>
          </c:val>
          <c:extLst>
            <c:ext uri="urn:officeimo:chart:auto-series-color:1">
              <oi:autoColor xmlns:oi="urn:officeimo:chart:auto-series-color:1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7"/>
        <c:axId val="48650118"/>
      </c:barChart>
      <c:catAx>
        <c:axId val="4865011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48650118"/>
        <c:crosses val="autoZero"/>
        <c:auto val="1"/>
        <c:lblAlgn val="ctr"/>
        <c:lblOffset val="100"/>
        <c:noMultiLvlLbl val="0"/>
      </c:catAx>
      <c:valAx>
        <c:axId val="48650118"/>
        <c:scaling>
          <c:orientation val="minMax"/>
        </c:scaling>
        <c:delete val="0"/>
        <c:axPos val="l"/>
        <c:majorGridlines/>
        <c:numFmt formatCode="General" sourceLinked="0"/>
        <c:majorTickMark val="none"/>
        <c:minorTickMark val="none"/>
        <c:tickLblPos val="nextTo"/>
        <c:crossAx val="48650117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392c02087f6d4df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920f9760a147e4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2bc494ae94a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2c6343be8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3d716d21740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186083188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9a9e7a40548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a1188c78e4f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4d261bb494d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fa4304ff74f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770f0d89442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00d3ffd824b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e183e557b46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chart" Target="/ppt/charts/chart11.xml" Id="Raccf6cdff59948a7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33400" y="355600"/>
            <a:ext cx="8255000" cy="58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7324D"/>
                </a:solidFill>
                <a:latin typeface="Carlito"/>
              </a:rPr>
              <a:t>OfficeIMO conversion proof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33400" y="965200"/>
            <a:ext cx="825500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2657A"/>
                </a:solidFill>
                <a:latin typeface="Carlito"/>
              </a:rPr>
              <a:t>Editable PowerPoint content rendered locally to PDF</a:t>
            </a:r>
          </a:p>
        </p:txBody>
      </p:sp>
      <p:sp>
        <p:nvSpPr>
          <p:cNvPr id="4" name="browser route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2860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5875">
            <a:solidFill>
              <a:srgbClr val="2563EB"/>
            </a:solidFill>
          </a:ln>
        </p:spPr>
      </p:sp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11200" y="1752600"/>
            <a:ext cx="1905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2563EB"/>
                </a:solidFill>
                <a:latin typeface="Carlito"/>
              </a:rPr>
              <a:t>12</a:t>
            </a:r>
          </a:p>
        </p:txBody>
      </p:sp>
      <p:sp>
        <p:nvSpPr>
          <p:cNvPr id="6" name="TextBox 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11200" y="226060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657A"/>
                </a:solidFill>
                <a:latin typeface="Carlito"/>
              </a:rPr>
              <a:t>browser routes</a:t>
            </a:r>
          </a:p>
        </p:txBody>
      </p:sp>
      <p:sp>
        <p:nvSpPr>
          <p:cNvPr id="7" name="local processing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1600200"/>
            <a:ext cx="22860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15875">
            <a:solidFill>
              <a:srgbClr val="07875B"/>
            </a:solidFill>
          </a:ln>
        </p:spPr>
      </p:sp>
      <p:sp>
        <p:nvSpPr>
          <p:cNvPr id="8" name="TextBox 5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276600" y="1752600"/>
            <a:ext cx="1905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7875B"/>
                </a:solidFill>
                <a:latin typeface="Carlito"/>
              </a:rPr>
              <a:t>100%</a:t>
            </a:r>
          </a:p>
        </p:txBody>
      </p:sp>
      <p:sp>
        <p:nvSpPr>
          <p:cNvPr id="9" name="TextBox 6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276600" y="226060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657A"/>
                </a:solidFill>
                <a:latin typeface="Carlito"/>
              </a:rPr>
              <a:t>local processing</a:t>
            </a:r>
          </a:p>
        </p:txBody>
      </p:sp>
      <p:sp>
        <p:nvSpPr>
          <p:cNvPr id="10" name="server uploads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600200"/>
            <a:ext cx="2286000" cy="116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15875">
            <a:solidFill>
              <a:srgbClr val="C2410C"/>
            </a:solidFill>
          </a:ln>
        </p:spPr>
      </p:sp>
      <p:sp>
        <p:nvSpPr>
          <p:cNvPr id="11" name="TextBox 7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842000" y="1752600"/>
            <a:ext cx="1905000" cy="43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C2410C"/>
                </a:solidFill>
                <a:latin typeface="Carlito"/>
              </a:rPr>
              <a:t>0</a:t>
            </a:r>
          </a:p>
        </p:txBody>
      </p:sp>
      <p:sp>
        <p:nvSpPr>
          <p:cNvPr id="12" name="TextBox 8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842000" y="226060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2657A"/>
                </a:solidFill>
                <a:latin typeface="Carlito"/>
              </a:rPr>
              <a:t>server uploads</a:t>
            </a:r>
          </a:p>
        </p:txBody>
      </p:sp>
      <p:graphicFrame>
        <p:nvGraphicFramePr>
          <p:cNvPr id="13" name="Table 1"/>
          <p:cNvGraphicFramePr/>
          <p:nvPr/>
        </p:nvGraphicFramePr>
        <p:xfrm>
          <a:off xmlns:a="http://schemas.openxmlformats.org/drawingml/2006/main" x="533400" y="3200400"/>
          <a:ext xmlns:a="http://schemas.openxmlformats.org/drawingml/2006/main" cx="8204200" cy="2413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4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lang="en-US"/>
                        <a:t>Workstream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Owner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/>
                        <a:t>PDF rendering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Drawing core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/>
                        <a:t>Editable imports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Format adapters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Targeted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US"/>
                        <a:t>Browser workbench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WebAssembly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Local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33400" y="355600"/>
            <a:ext cx="8255000" cy="58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7324D"/>
                </a:solidFill>
                <a:latin typeface="Carlito"/>
              </a:rPr>
              <a:t>Quarterly conversion volume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33400" y="965200"/>
            <a:ext cx="8255000" cy="33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52657A"/>
                </a:solidFill>
                <a:latin typeface="Carlito"/>
              </a:rPr>
              <a:t>Native chart data, title, axes, legend, and series</a:t>
            </a:r>
          </a:p>
        </p:txBody>
      </p:sp>
      <p:graphicFrame>
        <p:nvGraphicFramePr>
          <p:cNvPr id="4" name="Quarterly conversion volume" descr="Document and report conversion volume increases from Q1 through Q4.&#13;&#10;&#13;&#10;Data summary:&#13;&#10;Chart kind: ColumnClustered&#13;&#10;Category&#9;Documents&#9;Reports&#13;&#10;Q1&#9;120&#9;42&#13;&#10;Q2&#9;185&#9;68&#13;&#10;Q3&#9;240&#9;96&#13;&#10;Q4&#9;318&#9;132"/>
          <p:cNvGraphicFramePr/>
          <p:nvPr/>
        </p:nvGraphicFramePr>
        <p:xfrm>
          <a:off xmlns:a="http://schemas.openxmlformats.org/drawingml/2006/main" x="838200" y="1625600"/>
          <a:ext xmlns:a="http://schemas.openxmlformats.org/drawingml/2006/main" cx="7620000" cy="393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cf6cdff59948a7"/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2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2026-10-01T13:21:19.0000000Z</dcterms:created>
  <dcterms:modified xsi:type="dcterms:W3CDTF">2026-10-01T13:21:19.2814309Z</dcterms:modified>
</coreProperties>
</file>