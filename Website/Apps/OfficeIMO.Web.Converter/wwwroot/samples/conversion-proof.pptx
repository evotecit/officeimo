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eg" ContentType="image/jpeg"/>
  <Default Extension="rels" ContentType="application/vnd.openxmlformats-package.relationships+xml"/>
  <Default Extension="xlsx" ContentType="application/vnd.openxmlformats-officedocument.spreadsheetml.sheet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docProps/app.xml" ContentType="application/vnd.openxmlformats-officedocument.extended-properties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7e54de46f074aa7" /><Relationship Type="http://schemas.openxmlformats.org/officeDocument/2006/relationships/extended-properties" Target="/docProps/app.xml" Id="R4047e33e67104d5e" /><Relationship Type="http://schemas.openxmlformats.org/package/2006/relationships/metadata/core-properties" Target="/docProps/core.xml" Id="R71611bbba29f40db" /><Relationship Type="http://schemas.openxmlformats.org/package/2006/relationships/metadata/thumbnail" Target="/docProps/thumbnail.jpeg" Id="R459d12b23d544d77" /></Relationships>
</file>

<file path=ppt/presentation.xml><?xml version="1.0" encoding="utf-8"?>
<p:presentation xmlns:p="http://schemas.openxmlformats.org/presentationml/2006/main" saveSubsetFonts="1">
  <p:sldMasterIdLst>
    <p:sldMasterId xmlns:r="http://schemas.openxmlformats.org/officeDocument/2006/relationships" id="2147483648" r:id="rId1"/>
  </p:sldMasterIdLst>
  <p:notesMasterIdLst>
    <p:notesMasterId xmlns:r="http://schemas.openxmlformats.org/officeDocument/2006/relationships" r:id="R4e20008eda7a480f"/>
  </p:notesMasterIdLst>
  <p:sldIdLst>
    <p:sldId xmlns:r="http://schemas.openxmlformats.org/officeDocument/2006/relationships" id="256" r:id="rId2"/>
    <p:sldId xmlns:r="http://schemas.openxmlformats.org/officeDocument/2006/relationships" id="257" r:id="rId3"/>
  </p:sldIdLst>
  <p:sldSz cx="12191695" cy="6858000" type="screen16x9"/>
  <p:notesSz cx="6858000" cy="9144000"/>
  <p:defaultTextStyle/>
</p:presentation>
</file>

<file path=ppt/presProps.xml><?xml version="1.0" encoding="utf-8"?>
<p:presentationPr xmlns:p="http://schemas.openxmlformats.org/presentationml/2006/main">
  <p:showPr showNarration="0" showAnimation="1" useTimings="1"/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xmlns:a="http://schemas.openxmlformats.org/drawingml/2006/main" n="142" d="100"/>
          <a:sy xmlns:a="http://schemas.openxmlformats.org/drawingml/2006/main" n="142" d="100"/>
        </p:scale>
        <p:origin x="0" y="0"/>
      </p:cViewPr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b8dee6fa1b0142c9" /><Relationship Type="http://schemas.openxmlformats.org/officeDocument/2006/relationships/presProps" Target="/ppt/presProps.xml" Id="Rcf6065c3ca2346dc" /><Relationship Type="http://schemas.openxmlformats.org/officeDocument/2006/relationships/viewProps" Target="/ppt/viewProps.xml" Id="R0af9a3879f7348c2" /><Relationship Type="http://schemas.openxmlformats.org/officeDocument/2006/relationships/tableStyles" Target="/ppt/tableStyles.xml" Id="Rcf6d54765eeb4a28" /><Relationship Type="http://schemas.openxmlformats.org/officeDocument/2006/relationships/notesMaster" Target="/ppt/notesMasters/notesMaster1.xml" Id="R4e20008eda7a480f" /><Relationship Type="http://schemas.openxmlformats.org/officeDocument/2006/relationships/slide" Target="/ppt/slides/slide2.xml" Id="rId2" /><Relationship Type="http://schemas.openxmlformats.org/officeDocument/2006/relationships/slide" Target="/ppt/slides/slide3.xml" Id="rId3" /></Relationships>
</file>

<file path=ppt/charts/_rels/chart11.xml.rels>&#65279;<?xml version="1.0" encoding="utf-8"?><Relationships xmlns="http://schemas.openxmlformats.org/package/2006/relationships"><Relationship Type="http://schemas.microsoft.com/office/2011/relationships/chartStyle" Target="/ppt/charts/style1.xml" Id="R5ac30452f3bd4910" /><Relationship Type="http://schemas.microsoft.com/office/2011/relationships/chartColorStyle" Target="/ppt/charts/colors1.xml" Id="R301664537bd04539" /><Relationship Type="http://schemas.openxmlformats.org/officeDocument/2006/relationships/package" Target="/ppt/embeddings/Microsoft_Excel_Worksheet1.xlsx" Id="R155301890f0848d1" 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/>
          <a:lstStyle/>
          <a:p>
            <a:r>
              <a:rPr lang="en-US"/>
              <a:t>Completed conversions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1F4E79"/>
            </a:solidFill>
            <a:ln/>
          </c:spPr>
          <c:invertIfNegative val="0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185</c:v>
                </c:pt>
                <c:pt idx="2">
                  <c:v>240</c:v>
                </c:pt>
                <c:pt idx="3">
                  <c:v>318</c:v>
                </c:pt>
              </c:numCache>
            </c:numRef>
          </c:val>
          <c:extLst>
            <c:ext uri="urn:officeimo:chart:auto-series-color:1">
              <oi:autoColor xmlns:oi="urn:officeimo:chart:auto-series-color:1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Reports</c:v>
                </c:pt>
              </c:strCache>
            </c:strRef>
          </c:tx>
          <c:spPr>
            <a:solidFill>
              <a:srgbClr val="2F6F3E"/>
            </a:solidFill>
            <a:ln/>
          </c:spPr>
          <c:invertIfNegative val="0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42</c:v>
                </c:pt>
                <c:pt idx="1">
                  <c:v>68</c:v>
                </c:pt>
                <c:pt idx="2">
                  <c:v>96</c:v>
                </c:pt>
                <c:pt idx="3">
                  <c:v>132</c:v>
                </c:pt>
              </c:numCache>
            </c:numRef>
          </c:val>
          <c:extLst>
            <c:ext uri="urn:officeimo:chart:auto-series-color:1">
              <oi:autoColor xmlns:oi="urn:officeimo:chart:auto-series-color:1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5"/>
        <c:axId val="48650116"/>
      </c:barChart>
      <c:catAx>
        <c:axId val="48650115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48650116"/>
        <c:crosses val="autoZero"/>
        <c:auto val="1"/>
        <c:lblAlgn val="ctr"/>
        <c:lblOffset val="100"/>
        <c:noMultiLvlLbl val="0"/>
      </c:catAx>
      <c:valAx>
        <c:axId val="48650116"/>
        <c:scaling>
          <c:orientation val="minMax"/>
        </c:scaling>
        <c:delete val="0"/>
        <c:axPos val="l"/>
        <c:majorGridlines/>
        <c:numFmt formatCode="General" sourceLinked="0"/>
        <c:majorTickMark val="none"/>
        <c:minorTickMark val="none"/>
        <c:tickLblPos val="nextTo"/>
        <c:crossAx val="48650115"/>
        <c:crosses val="autoZero"/>
        <c:crossBetween val="between"/>
      </c:valAx>
    </c:plotArea>
    <c:legend>
      <c:legendPos val="b"/>
      <c:layout/>
      <c:overlay val="0"/>
    </c:legend>
    <c:plotVisOnly val="1"/>
    <c:dispBlanksAs val="gap"/>
    <c:showDLblsOverMax val="0"/>
  </c:chart>
  <c:externalData r:id="R155301890f0848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5114e3212b24b1e" /></Relationships>
</file>

<file path=ppt/notesMasters/notesMaster1.xml><?xml version="1.0" encoding="utf-8"?>
<p:notesMaster xmlns:p="http://schemas.openxmlformats.org/presentationml/2006/main">
  <p:cSld>
    <p:bg>
      <p:bgPr>
        <a:noFill xmlns:a="http://schemas.openxmlformats.org/drawingml/2006/main"/>
      </p:bgPr>
    </p:bg>
    <p:spTree>
      <p:nvGrpSpPr>
        <p:cNvPr id="1" name="Notes Group Shape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lide Image Placeholder"/>
          <p:cNvSpPr/>
          <p:nvPr>
            <p:ph type="sldImg" idx="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"/>
          <p:cNvSpPr/>
          <p:nvPr>
            <p:ph type="dt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Slide Number Placeholder"/>
          <p:cNvSpPr/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6" name="Footer Placeholder"/>
          <p:cNvSpPr/>
          <p:nvPr>
            <p:ph type="ftr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>
      <a:defRPr lang="en-US"/>
    </a:lvl1pPr>
    <a:lvl2pPr xmlns:a="http://schemas.openxmlformats.org/drawingml/2006/main">
      <a:defRPr lang="en-US"/>
    </a:lvl2pPr>
    <a:lvl3pPr xmlns:a="http://schemas.openxmlformats.org/drawingml/2006/main">
      <a:defRPr lang="en-US"/>
    </a:lvl3pPr>
    <a:lvl4pPr xmlns:a="http://schemas.openxmlformats.org/drawingml/2006/main">
      <a:defRPr lang="en-US"/>
    </a:lvl4pPr>
    <a:lvl5pPr xmlns:a="http://schemas.openxmlformats.org/drawingml/2006/main">
      <a:defRPr lang="en-US"/>
    </a:lvl5pPr>
    <a:lvl6pPr xmlns:a="http://schemas.openxmlformats.org/drawingml/2006/main">
      <a:defRPr lang="en-US"/>
    </a:lvl6pPr>
    <a:lvl7pPr xmlns:a="http://schemas.openxmlformats.org/drawingml/2006/main">
      <a:defRPr lang="en-US"/>
    </a:lvl7pPr>
    <a:lvl8pPr xmlns:a="http://schemas.openxmlformats.org/drawingml/2006/main">
      <a:defRPr lang="en-US"/>
    </a:lvl8pPr>
    <a:lvl9pPr xmlns:a="http://schemas.openxmlformats.org/drawingml/2006/main">
      <a:defRPr lang="en-US"/>
    </a:lvl9pPr>
  </p:notesStyle>
</p:notesMaster>
</file>

<file path=ppt/notesMasters/theme/theme2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9280e6d91459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208238b0b4f0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1b5b893e6d499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51cf7dbeec494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ad2e8efe7840f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7f9cddd0a8419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7b95089225495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557dcfd394402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d414b99d694b9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2cdd9db8fd4e7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03dee41e248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 Placeholder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 Header Title 1"/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ection Header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wo Content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twoObj">
  <p:cSld name="Comparis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mparison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365125"/>
            <a:ext cx="804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Left 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Right Tex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6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7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Layouts/slideLayout8.xml><?xml version="1.0" encoding="utf-8"?>
<p:sldLayout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icture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Picture Placeholder 3"/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838200" y="760000"/>
            <a:ext cx="7772400" cy="10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aption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912625"/>
            <a:ext cx="77724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9.xml><?xml version="1.0" encoding="utf-8"?>
<p:sldLayout xmlns:p="http://schemas.openxmlformats.org/presentationml/2006/main" type="vertTitleAndTx">
  <p:cSld name="Title and Vertical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18288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Vertical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743200" y="365125"/>
            <a:ext cx="5486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0.xml><?xml version="1.0" encoding="utf-8"?>
<p:sldLayout xmlns:p="http://schemas.openxmlformats.org/presentationml/2006/main" type="vertTx">
  <p:cSld name="Vertical Title and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5125" y="365125"/>
            <a:ext cx="914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1.xml><?xml version="1.0" encoding="utf-8"?>
<p:sldLayout xmlns:p="http://schemas.openxmlformats.org/presentationml/2006/main" type="twoObj">
  <p:cSld name="Two Content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Caption Placeholder 4"/>
          <p:cNvSpPr>
            <a:spLocks xmlns:a="http://schemas.openxmlformats.org/drawingml/2006/main" noGrp="1"/>
          </p:cNvSpPr>
          <p:nvPr>
            <p:ph type="obj" idx="3"/>
          </p:nvPr>
        </p:nvSpPr>
        <p:spPr>
          <a:xfrm xmlns:a="http://schemas.openxmlformats.org/drawingml/2006/main">
            <a:off x="685800" y="6200000"/>
            <a:ext cx="7090000" cy="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Relationship Type="http://schemas.openxmlformats.org/officeDocument/2006/relationships/slideLayout" Target="/ppt/slideLayouts/slideLayout6.xml" Id="rId6" /><Relationship Type="http://schemas.openxmlformats.org/officeDocument/2006/relationships/slideLayout" Target="/ppt/slideLayouts/slideLayout7.xml" Id="rId7" /><Relationship Type="http://schemas.openxmlformats.org/officeDocument/2006/relationships/slideLayout" Target="/ppt/slideLayouts/slideLayout8.xml" Id="rId8" /><Relationship Type="http://schemas.openxmlformats.org/officeDocument/2006/relationships/slideLayout" Target="/ppt/slideLayouts/slideLayout9.xml" Id="rId9" /><Relationship Type="http://schemas.openxmlformats.org/officeDocument/2006/relationships/slideLayout" Target="/ppt/slideLayouts/slideLayout10.xml" Id="rId10" /><Relationship Type="http://schemas.openxmlformats.org/officeDocument/2006/relationships/slideLayout" Target="/ppt/slideLayouts/slideLayout11.xml" Id="rId11" /><Relationship Type="http://schemas.openxmlformats.org/officeDocument/2006/relationships/theme" Target="/ppt/theme/theme1.xml" Id="rId1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  <p:sldLayoutId xmlns:r="http://schemas.openxmlformats.org/officeDocument/2006/relationships" id="2147483654" r:id="rId6"/>
    <p:sldLayoutId xmlns:r="http://schemas.openxmlformats.org/officeDocument/2006/relationships" id="2147483655" r:id="rId7"/>
    <p:sldLayoutId xmlns:r="http://schemas.openxmlformats.org/officeDocument/2006/relationships" id="2147483656" r:id="rId8"/>
    <p:sldLayoutId xmlns:r="http://schemas.openxmlformats.org/officeDocument/2006/relationships" id="2147483657" r:id="rId9"/>
    <p:sldLayoutId xmlns:r="http://schemas.openxmlformats.org/officeDocument/2006/relationships" id="2147483658" r:id="rId10"/>
    <p:sldLayoutId xmlns:r="http://schemas.openxmlformats.org/officeDocument/2006/relationships" id="2147483659" r:id="rId11"/>
  </p:sldLayoutIdLst>
  <p:txStyles>
    <p:titleStyle/>
    <p:bodyStyle/>
    <p:otherStyle/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Relationship Type="http://schemas.openxmlformats.org/officeDocument/2006/relationships/chart" Target="/ppt/charts/chart11.xml" Id="R2ed14e46f5b64c23" /></Relationships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355600"/>
            <a:ext cx="82550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7324D"/>
                </a:solidFill>
                <a:latin typeface="Carlito"/>
              </a:rPr>
              <a:t>OfficeIMO conversion proof</a:t>
            </a:r>
          </a:p>
        </p:txBody>
      </p:sp>
      <p:sp>
        <p:nvSpPr>
          <p:cNvPr id="3" name="TextBox 2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965200"/>
            <a:ext cx="8255000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657A"/>
                </a:solidFill>
                <a:latin typeface="Carlito"/>
              </a:rPr>
              <a:t>Editable PowerPoint content rendered locally to PDF</a:t>
            </a:r>
          </a:p>
        </p:txBody>
      </p:sp>
      <p:sp>
        <p:nvSpPr>
          <p:cNvPr id="4" name="browser rout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5875">
            <a:solidFill>
              <a:srgbClr val="2563EB"/>
            </a:solidFill>
          </a:ln>
        </p:spPr>
      </p:sp>
      <p:sp>
        <p:nvSpPr>
          <p:cNvPr id="5" name="TextBox 3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7112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2563EB"/>
                </a:solidFill>
                <a:latin typeface="Carlito"/>
              </a:rPr>
              <a:t>13</a:t>
            </a:r>
          </a:p>
        </p:txBody>
      </p:sp>
      <p:sp>
        <p:nvSpPr>
          <p:cNvPr id="6" name="TextBox 4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7112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browser routes</a:t>
            </a:r>
          </a:p>
        </p:txBody>
      </p:sp>
      <p:sp>
        <p:nvSpPr>
          <p:cNvPr id="7" name="local processing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8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8F0"/>
          </a:solidFill>
          <a:ln xmlns:a="http://schemas.openxmlformats.org/drawingml/2006/main" w="15875">
            <a:solidFill>
              <a:srgbClr val="07875B"/>
            </a:solidFill>
          </a:ln>
        </p:spPr>
      </p:sp>
      <p:sp>
        <p:nvSpPr>
          <p:cNvPr id="8" name="TextBox 5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32766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07875B"/>
                </a:solidFill>
                <a:latin typeface="Carlito"/>
              </a:rPr>
              <a:t>100%</a:t>
            </a:r>
          </a:p>
        </p:txBody>
      </p:sp>
      <p:sp>
        <p:nvSpPr>
          <p:cNvPr id="9" name="TextBox 6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32766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local processing</a:t>
            </a:r>
          </a:p>
        </p:txBody>
      </p:sp>
      <p:sp>
        <p:nvSpPr>
          <p:cNvPr id="10" name="server upload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4200" y="1600200"/>
            <a:ext cx="2286000" cy="116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E8"/>
          </a:solidFill>
          <a:ln xmlns:a="http://schemas.openxmlformats.org/drawingml/2006/main" w="15875">
            <a:solidFill>
              <a:srgbClr val="C2410C"/>
            </a:solidFill>
          </a:ln>
        </p:spPr>
      </p:sp>
      <p:sp>
        <p:nvSpPr>
          <p:cNvPr id="11" name="TextBox 7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842000" y="1752600"/>
            <a:ext cx="1905000" cy="43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C2410C"/>
                </a:solidFill>
                <a:latin typeface="Carlito"/>
              </a:rPr>
              <a:t>0</a:t>
            </a:r>
          </a:p>
        </p:txBody>
      </p:sp>
      <p:sp>
        <p:nvSpPr>
          <p:cNvPr id="12" name="TextBox 8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842000" y="2260600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52657A"/>
                </a:solidFill>
                <a:latin typeface="Carlito"/>
              </a:rPr>
              <a:t>server uploads</a:t>
            </a:r>
          </a:p>
        </p:txBody>
      </p:sp>
      <p:graphicFrame>
        <p:nvGraphicFramePr>
          <p:cNvPr id="13" name="Table 1"/>
          <p:cNvGraphicFramePr/>
          <p:nvPr/>
        </p:nvGraphicFramePr>
        <p:xfrm>
          <a:off xmlns:a="http://schemas.openxmlformats.org/drawingml/2006/main" x="533400" y="3200400"/>
          <a:ext xmlns:a="http://schemas.openxmlformats.org/drawingml/2006/main" cx="8204200" cy="2413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47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Workstream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Owner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Status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PDF rendering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Drawing core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Advanced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Editable imports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Format adapters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Targeted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/>
                        <a:t>Browser workbench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WebAssembly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Local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355600"/>
            <a:ext cx="82550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7324D"/>
                </a:solidFill>
                <a:latin typeface="Carlito"/>
              </a:rPr>
              <a:t>Quarterly conversion volume</a:t>
            </a:r>
          </a:p>
        </p:txBody>
      </p:sp>
      <p:sp>
        <p:nvSpPr>
          <p:cNvPr id="3" name="TextBox 2"/>
          <p:cNvSpPr>
            <a:spLocks xmlns:a="http://schemas.openxmlformats.org/drawingml/2006/main" noGrp="1"/>
          </p:cNvSpPr>
          <p:nvPr>
            <p:ph/>
          </p:nvPr>
        </p:nvSpPr>
        <p:spPr>
          <a:xfrm xmlns:a="http://schemas.openxmlformats.org/drawingml/2006/main">
            <a:off x="533400" y="965200"/>
            <a:ext cx="8255000" cy="33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52657A"/>
                </a:solidFill>
                <a:latin typeface="Carlito"/>
              </a:rPr>
              <a:t>Native chart data, title, axes, legend, and series</a:t>
            </a:r>
          </a:p>
        </p:txBody>
      </p:sp>
      <p:graphicFrame>
        <p:nvGraphicFramePr>
          <p:cNvPr id="4" name="Quarterly conversion volume" descr="Document and report conversion volume increases from Q1 through Q4.&#13;&#10;&#13;&#10;Data summary:&#13;&#10;Chart kind: ColumnClustered&#13;&#10;Category&#9;Documents&#9;Reports&#13;&#10;Q1&#9;120&#9;42&#13;&#10;Q2&#9;185&#9;68&#13;&#10;Q3&#9;240&#9;96&#13;&#10;Q4&#9;318&#9;132"/>
          <p:cNvGraphicFramePr/>
          <p:nvPr/>
        </p:nvGraphicFramePr>
        <p:xfrm>
          <a:off xmlns:a="http://schemas.openxmlformats.org/drawingml/2006/main" x="838200" y="1625600"/>
          <a:ext xmlns:a="http://schemas.openxmlformats.org/drawingml/2006/main" cx="7620000" cy="393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14e46f5b64c23"/>
          </a:graphicData>
        </a:graphic>
      </p:graphicFrame>
    </p:spTree>
  </p:cSld>
  <p:clrMapOvr>
    <a:masterClrMapping xmlns:a="http://schemas.openxmlformats.org/drawingml/2006/main"/>
  </p:clrMapOvr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ap:Properties xmlns:ap="http://schemas.openxmlformats.org/officeDocument/2006/extended-properties">
  <ap:TotalTime>0</ap:TotalTime>
  <ap:HiddenSlides>0</ap:HiddenSlides>
  <ap:Notes>0</ap:Notes>
  <ap:Slides>2</ap:Slides>
  <ap:PresentationFormat>Widescreen</ap:PresentationFormat>
  <ap:Application>Microsoft Office PowerPoint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OfficeIMO</dc:creator>
  <lastModifiedBy>OfficeIMO</lastModifiedBy>
  <dcterms:created xsi:type="dcterms:W3CDTF">2026-10-01T12:34:56.0000000Z</dcterms:created>
  <dcterms:modified xsi:type="dcterms:W3CDTF">2026-10-01T12:34:56.8641651Z</dcterms:modified>
</coreProperties>
</file>