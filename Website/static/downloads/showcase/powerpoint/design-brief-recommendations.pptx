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05bef2ef79c4fc4" /><Relationship Type="http://schemas.openxmlformats.org/officeDocument/2006/relationships/extended-properties" Target="/docProps/app.xml" Id="Re21b6ad408f74cb6" /><Relationship Type="http://schemas.openxmlformats.org/package/2006/relationships/metadata/core-properties" Target="/docProps/core.xml" Id="Redc06ca273484c2c" /><Relationship Type="http://schemas.openxmlformats.org/package/2006/relationships/metadata/thumbnail" Target="/docProps/thumbnail.jpeg" Id="R5066437d513c45e2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77eff97fb1664300"/>
  </p:notes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</p:sldIdLst>
  <p:sldSz cx="12191695" cy="6858000" type="screen16x9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13aaadf04787443f" /><Relationship Type="http://schemas.openxmlformats.org/officeDocument/2006/relationships/presProps" Target="/ppt/presProps.xml" Id="R517f04e180ab433b" /><Relationship Type="http://schemas.openxmlformats.org/officeDocument/2006/relationships/viewProps" Target="/ppt/viewProps.xml" Id="R09e1724a3e9f49e1" /><Relationship Type="http://schemas.openxmlformats.org/officeDocument/2006/relationships/tableStyles" Target="/ppt/tableStyles.xml" Id="R50402087fc184f18" /><Relationship Type="http://schemas.openxmlformats.org/officeDocument/2006/relationships/notesMaster" Target="/ppt/notesMasters/notesMaster1.xml" Id="R77eff97fb1664300" /><Relationship Type="http://schemas.openxmlformats.org/officeDocument/2006/relationships/slide" Target="/ppt/slides/slide2.xml" Id="rId2" /><Relationship Type="http://schemas.openxmlformats.org/officeDocument/2006/relationships/slide" Target="/ppt/slides/slide3.xml" Id="rId3" /><Relationship Type="http://schemas.openxmlformats.org/officeDocument/2006/relationships/slide" Target="/ppt/slides/slide4.xml" Id="rId4" /><Relationship Type="http://schemas.openxmlformats.org/officeDocument/2006/relationships/slide" Target="/ppt/slides/slide5.xml" Id="rI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cd9980b24c44a94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3984553f0e4a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6cf619a054d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a6a0b07484c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f9c0e140d4d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4c03ccde242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774a39ac444f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0fd454e2341e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59daac261444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471b3b6ac455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4408df4b546b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d3fa829264d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65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5" name="Section Poster Wash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>
              <a:alpha val="50000"/>
            </a:srgbClr>
          </a:solidFill>
          <a:ln xmlns:a="http://schemas.openxmlformats.org/drawingml/2006/main">
            <a:solidFill>
              <a:srgbClr val="008C95"/>
            </a:solidFill>
          </a:ln>
        </p:spPr>
      </p:sp>
      <p:sp>
        <p:nvSpPr>
          <p:cNvPr id="2" name="TextBox 1" title="Slide title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48000" y="378000"/>
            <a:ext cx="2880000" cy="12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>
                <a:solidFill>
                  <a:srgbClr val="B2DCDF"/>
                </a:solidFill>
                <a:latin typeface="Aptos"/>
              </a:rPr>
              <a:t>OfficeIMO.PowerPoint</a:t>
            </a:r>
            <a:endParaRPr lang="en-US"/>
          </a:p>
        </p:txBody>
      </p:sp>
      <p:sp>
        <p:nvSpPr>
          <p:cNvPr id="3" name="TextBox 2" title="OFFICEIMO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30000" y="6372000"/>
            <a:ext cx="2160000" cy="1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Poppins"/>
              </a:rPr>
              <a:t>OFFICEIMO</a:t>
            </a:r>
            <a:endParaRPr lang="en-US"/>
          </a:p>
        </p:txBody>
      </p:sp>
      <p:sp>
        <p:nvSpPr>
          <p:cNvPr id="4" name="TextBox 3" title="Design brief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10247695" y="6372000"/>
            <a:ext cx="1476000" cy="1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200" b="1">
                <a:solidFill>
                  <a:srgbClr val="FFFFFF"/>
                </a:solidFill>
                <a:latin typeface="Poppins"/>
              </a:rPr>
              <a:t>Design brief</a:t>
            </a:r>
            <a:endParaRPr lang="en-US"/>
          </a:p>
        </p:txBody>
      </p:sp>
      <p:sp>
        <p:nvSpPr>
          <p:cNvPr id="6" name="Section Poster Frame" title="Section Poster Fr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" y="558000"/>
            <a:ext cx="11147695" cy="57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6B">
              <a:alpha val="0"/>
            </a:srgbClr>
          </a:solidFill>
          <a:ln xmlns:a="http://schemas.openxmlformats.org/drawingml/2006/main" w="8890">
            <a:solidFill>
              <a:srgbClr val="B2DCDF"/>
            </a:solidFill>
          </a:ln>
        </p:spPr>
      </p:sp>
      <p:sp>
        <p:nvSpPr>
          <p:cNvPr id="7" name="TextBox 4" title="Design brief recommendations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864000" y="2880360"/>
            <a:ext cx="10463695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4200" b="1">
                <a:solidFill>
                  <a:srgbClr val="FFFFFF"/>
                </a:solidFill>
                <a:latin typeface="Poppins"/>
              </a:rPr>
              <a:t>Design brief recommendations</a:t>
            </a:r>
            <a:endParaRPr lang="en-US"/>
          </a:p>
        </p:txBody>
      </p:sp>
      <p:sp>
        <p:nvSpPr>
          <p:cNvPr id="8" name="Section Title Accent Underlin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848" y="3189960"/>
            <a:ext cx="151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100"/>
          </a:solidFill>
          <a:ln xmlns:a="http://schemas.openxmlformats.org/drawingml/2006/main" w="0">
            <a:solidFill>
              <a:srgbClr val="F4A100"/>
            </a:solidFill>
          </a:ln>
        </p:spPr>
      </p:sp>
      <p:sp>
        <p:nvSpPr>
          <p:cNvPr id="9" name="TextBox 5" title="Preview several directions, then choose one before rendering.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1476000" y="3977640"/>
            <a:ext cx="9239695" cy="2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B2DCDF"/>
                </a:solidFill>
                <a:latin typeface="Aptos"/>
              </a:rPr>
              <a:t>Preview several directions, then choose one before rendering.</a:t>
            </a:r>
            <a:endParaRPr lang="en-US"/>
          </a:p>
        </p:txBody>
      </p:sp>
      <p:sp>
        <p:nvSpPr>
          <p:cNvPr id="10" name="Designer Direction 1" title="Designer Direction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761" y="4670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4A100"/>
            </a:solidFill>
          </a:ln>
        </p:spPr>
      </p:sp>
      <p:sp>
        <p:nvSpPr>
          <p:cNvPr id="11" name="Designer Direction Chevron 1B" title="Designer Direction Chevron 1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761" y="4706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4A100"/>
            </a:solidFill>
          </a:ln>
        </p:spPr>
      </p:sp>
      <p:sp>
        <p:nvSpPr>
          <p:cNvPr id="12" name="Designer Direction 2" title="Designer Direction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761" y="4670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19">
            <a:solidFill>
              <a:srgbClr val="F4A100"/>
            </a:solidFill>
          </a:ln>
        </p:spPr>
      </p:sp>
      <p:sp>
        <p:nvSpPr>
          <p:cNvPr id="13" name="Designer Direction Chevron 2B" title="Designer Direction Chevron 2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761" y="4706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19">
            <a:solidFill>
              <a:srgbClr val="F4A100"/>
            </a:solidFill>
          </a:ln>
        </p:spPr>
      </p:sp>
      <p:sp>
        <p:nvSpPr>
          <p:cNvPr id="14" name="Designer Direction 3" title="Designer Direction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761" y="4670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38">
            <a:solidFill>
              <a:srgbClr val="F4A100"/>
            </a:solidFill>
          </a:ln>
        </p:spPr>
      </p:sp>
      <p:sp>
        <p:nvSpPr>
          <p:cNvPr id="15" name="Designer Direction Chevron 3B" title="Designer Direction Chevron 3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761" y="4706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38">
            <a:solidFill>
              <a:srgbClr val="F4A100"/>
            </a:solidFill>
          </a:ln>
        </p:spPr>
      </p:sp>
      <p:sp>
        <p:nvSpPr>
          <p:cNvPr id="16" name="Designer Direction 4" title="Designer Direction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761" y="4670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57">
            <a:solidFill>
              <a:srgbClr val="F4A100"/>
            </a:solidFill>
          </a:ln>
        </p:spPr>
      </p:sp>
      <p:sp>
        <p:nvSpPr>
          <p:cNvPr id="17" name="Designer Direction Chevron 4B" title="Designer Direction Chevron 4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761" y="4706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57">
            <a:solidFill>
              <a:srgbClr val="F4A100"/>
            </a:solidFill>
          </a:ln>
        </p:spPr>
      </p:sp>
      <p:sp>
        <p:nvSpPr>
          <p:cNvPr id="18" name="Designer Direction 5" title="Designer Direction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761" y="4670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176">
            <a:solidFill>
              <a:srgbClr val="F4A100"/>
            </a:solidFill>
          </a:ln>
        </p:spPr>
      </p:sp>
      <p:sp>
        <p:nvSpPr>
          <p:cNvPr id="19" name="Designer Direction Chevron 5B" title="Designer Direction Chevron 5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761" y="4706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176">
            <a:solidFill>
              <a:srgbClr val="F4A100"/>
            </a:solidFill>
          </a:ln>
        </p:spPr>
      </p:sp>
      <p:sp>
        <p:nvSpPr>
          <p:cNvPr id="20" name="Designer Direction 6" title="Designer Direction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761" y="4670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795">
            <a:solidFill>
              <a:srgbClr val="F4A100"/>
            </a:solidFill>
          </a:ln>
        </p:spPr>
      </p:sp>
      <p:sp>
        <p:nvSpPr>
          <p:cNvPr id="21" name="Designer Direction Chevron 6B" title="Designer Direction Chevron 6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761" y="4706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795">
            <a:solidFill>
              <a:srgbClr val="F4A100"/>
            </a:solidFill>
          </a:ln>
        </p:spPr>
      </p:sp>
      <p:sp>
        <p:nvSpPr>
          <p:cNvPr id="22" name="Designer Direction 7" title="Designer Direction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761" y="4670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14">
            <a:solidFill>
              <a:srgbClr val="F4A100"/>
            </a:solidFill>
          </a:ln>
        </p:spPr>
      </p:sp>
      <p:sp>
        <p:nvSpPr>
          <p:cNvPr id="23" name="Designer Direction Chevron 7B" title="Designer Direction Chevron 7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761" y="4706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14">
            <a:solidFill>
              <a:srgbClr val="F4A100"/>
            </a:solidFill>
          </a:ln>
        </p:spPr>
      </p:sp>
      <p:sp>
        <p:nvSpPr>
          <p:cNvPr id="24" name="Designer Direction 8" title="Designer Direction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761" y="4670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33">
            <a:solidFill>
              <a:srgbClr val="F4A100"/>
            </a:solidFill>
          </a:ln>
        </p:spPr>
      </p:sp>
      <p:sp>
        <p:nvSpPr>
          <p:cNvPr id="25" name="Designer Direction Chevron 8B" title="Designer Direction Chevron 8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761" y="4706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33">
            <a:solidFill>
              <a:srgbClr val="F4A100"/>
            </a:solidFill>
          </a:ln>
        </p:spPr>
      </p:sp>
      <p:sp>
        <p:nvSpPr>
          <p:cNvPr id="26" name="Designer Direction 9" title="Designer Direction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761" y="4670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652">
            <a:solidFill>
              <a:srgbClr val="F4A100"/>
            </a:solidFill>
          </a:ln>
        </p:spPr>
      </p:sp>
      <p:sp>
        <p:nvSpPr>
          <p:cNvPr id="27" name="Designer Direction Chevron 9B" title="Designer Direction Chevron 9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761" y="4706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652">
            <a:solidFill>
              <a:srgbClr val="F4A100"/>
            </a:solidFill>
          </a:ln>
        </p:spPr>
      </p:sp>
      <p:sp>
        <p:nvSpPr>
          <p:cNvPr id="28" name="Designer Direction 10" title="Designer Direction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761" y="4670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271">
            <a:solidFill>
              <a:srgbClr val="F4A100"/>
            </a:solidFill>
          </a:ln>
        </p:spPr>
      </p:sp>
      <p:sp>
        <p:nvSpPr>
          <p:cNvPr id="29" name="Designer Direction Chevron 10B" title="Designer Direction Chevron 10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761" y="4706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271">
            <a:solidFill>
              <a:srgbClr val="F4A100"/>
            </a:solidFill>
          </a:ln>
        </p:spPr>
      </p:sp>
      <p:sp>
        <p:nvSpPr>
          <p:cNvPr id="30" name="Designer Direction 11" title="Designer Direction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761" y="4670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F4A100"/>
            </a:solidFill>
          </a:ln>
        </p:spPr>
      </p:sp>
      <p:sp>
        <p:nvSpPr>
          <p:cNvPr id="31" name="Designer Direction Chevron 11B" title="Designer Direction Chevron 11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761" y="4706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F4A100"/>
            </a:solidFill>
          </a:ln>
        </p:spPr>
      </p:sp>
      <p:sp>
        <p:nvSpPr>
          <p:cNvPr id="32" name="Designer Direction 12" title="Designer Direction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761" y="4670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09">
            <a:solidFill>
              <a:srgbClr val="F4A100"/>
            </a:solidFill>
          </a:ln>
        </p:spPr>
      </p:sp>
      <p:sp>
        <p:nvSpPr>
          <p:cNvPr id="33" name="Designer Direction Chevron 12B" title="Designer Direction Chevron 12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761" y="470664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09">
            <a:solidFill>
              <a:srgbClr val="F4A100"/>
            </a:solidFill>
          </a:ln>
        </p:spPr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esigner Light Diagonal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675" y="0"/>
            <a:ext cx="2682173" cy="6858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6FAFC">
              <a:alpha val="65000"/>
            </a:srgbClr>
          </a:solidFill>
          <a:ln xmlns:a="http://schemas.openxmlformats.org/drawingml/2006/main">
            <a:solidFill>
              <a:srgbClr val="F6FAFC"/>
            </a:solidFill>
          </a:ln>
        </p:spPr>
      </p:sp>
      <p:sp>
        <p:nvSpPr>
          <p:cNvPr id="3" name="TextBox 1" title="Slide title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48000" y="378000"/>
            <a:ext cx="2880000" cy="12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>
                <a:solidFill>
                  <a:srgbClr val="8A949E"/>
                </a:solidFill>
                <a:latin typeface="Aptos"/>
              </a:rPr>
              <a:t>OfficeIMO.PowerPoint</a:t>
            </a:r>
            <a:endParaRPr lang="en-US"/>
          </a:p>
        </p:txBody>
      </p:sp>
      <p:sp>
        <p:nvSpPr>
          <p:cNvPr id="4" name="TextBox 2" title="OFFICEIMO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30000" y="6372000"/>
            <a:ext cx="2160000" cy="1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0656B"/>
                </a:solidFill>
                <a:latin typeface="Poppins"/>
              </a:rPr>
              <a:t>OFFICEIMO</a:t>
            </a:r>
            <a:endParaRPr lang="en-US"/>
          </a:p>
        </p:txBody>
      </p:sp>
      <p:sp>
        <p:nvSpPr>
          <p:cNvPr id="5" name="TextBox 3" title="Design brief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10247695" y="6372000"/>
            <a:ext cx="1476000" cy="1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200" b="1">
                <a:solidFill>
                  <a:srgbClr val="00656B"/>
                </a:solidFill>
                <a:latin typeface="Poppins"/>
              </a:rPr>
              <a:t>Design brief</a:t>
            </a:r>
            <a:endParaRPr lang="en-US"/>
          </a:p>
        </p:txBody>
      </p:sp>
      <p:sp>
        <p:nvSpPr>
          <p:cNvPr id="6" name="Designer Direction 1" title="Designer Direction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8C95"/>
            </a:solidFill>
          </a:ln>
        </p:spPr>
      </p:sp>
      <p:sp>
        <p:nvSpPr>
          <p:cNvPr id="7" name="Designer Direction Chevron 1B" title="Designer Direction Chevron 1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8C95"/>
            </a:solidFill>
          </a:ln>
        </p:spPr>
      </p:sp>
      <p:sp>
        <p:nvSpPr>
          <p:cNvPr id="8" name="Designer Direction 2" title="Designer Direction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19">
            <a:solidFill>
              <a:srgbClr val="008C95"/>
            </a:solidFill>
          </a:ln>
        </p:spPr>
      </p:sp>
      <p:sp>
        <p:nvSpPr>
          <p:cNvPr id="9" name="Designer Direction Chevron 2B" title="Designer Direction Chevron 2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19">
            <a:solidFill>
              <a:srgbClr val="008C95"/>
            </a:solidFill>
          </a:ln>
        </p:spPr>
      </p:sp>
      <p:sp>
        <p:nvSpPr>
          <p:cNvPr id="10" name="Designer Direction 3" title="Designer Direction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38">
            <a:solidFill>
              <a:srgbClr val="008C95"/>
            </a:solidFill>
          </a:ln>
        </p:spPr>
      </p:sp>
      <p:sp>
        <p:nvSpPr>
          <p:cNvPr id="11" name="Designer Direction Chevron 3B" title="Designer Direction Chevron 3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38">
            <a:solidFill>
              <a:srgbClr val="008C95"/>
            </a:solidFill>
          </a:ln>
        </p:spPr>
      </p:sp>
      <p:sp>
        <p:nvSpPr>
          <p:cNvPr id="12" name="Designer Direction 4" title="Designer Direction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5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57">
            <a:solidFill>
              <a:srgbClr val="008C95"/>
            </a:solidFill>
          </a:ln>
        </p:spPr>
      </p:sp>
      <p:sp>
        <p:nvSpPr>
          <p:cNvPr id="13" name="Designer Direction Chevron 4B" title="Designer Direction Chevron 4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5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57">
            <a:solidFill>
              <a:srgbClr val="008C95"/>
            </a:solidFill>
          </a:ln>
        </p:spPr>
      </p:sp>
      <p:sp>
        <p:nvSpPr>
          <p:cNvPr id="14" name="Designer Direction 5" title="Designer Direction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1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176">
            <a:solidFill>
              <a:srgbClr val="008C95"/>
            </a:solidFill>
          </a:ln>
        </p:spPr>
      </p:sp>
      <p:sp>
        <p:nvSpPr>
          <p:cNvPr id="15" name="Designer Direction Chevron 5B" title="Designer Direction Chevron 5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1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176">
            <a:solidFill>
              <a:srgbClr val="008C95"/>
            </a:solidFill>
          </a:ln>
        </p:spPr>
      </p:sp>
      <p:sp>
        <p:nvSpPr>
          <p:cNvPr id="16" name="Designer Direction 6" title="Designer Direction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795">
            <a:solidFill>
              <a:srgbClr val="008C95"/>
            </a:solidFill>
          </a:ln>
        </p:spPr>
      </p:sp>
      <p:sp>
        <p:nvSpPr>
          <p:cNvPr id="17" name="Designer Direction Chevron 6B" title="Designer Direction Chevron 6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795">
            <a:solidFill>
              <a:srgbClr val="008C95"/>
            </a:solidFill>
          </a:ln>
        </p:spPr>
      </p:sp>
      <p:sp>
        <p:nvSpPr>
          <p:cNvPr id="18" name="Designer Direction 7" title="Designer Direction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14">
            <a:solidFill>
              <a:srgbClr val="008C95"/>
            </a:solidFill>
          </a:ln>
        </p:spPr>
      </p:sp>
      <p:sp>
        <p:nvSpPr>
          <p:cNvPr id="19" name="Designer Direction Chevron 7B" title="Designer Direction Chevron 7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14">
            <a:solidFill>
              <a:srgbClr val="008C95"/>
            </a:solidFill>
          </a:ln>
        </p:spPr>
      </p:sp>
      <p:sp>
        <p:nvSpPr>
          <p:cNvPr id="20" name="Designer Direction 8" title="Designer Direction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33">
            <a:solidFill>
              <a:srgbClr val="008C95"/>
            </a:solidFill>
          </a:ln>
        </p:spPr>
      </p:sp>
      <p:sp>
        <p:nvSpPr>
          <p:cNvPr id="21" name="Designer Direction Chevron 8B" title="Designer Direction Chevron 8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33">
            <a:solidFill>
              <a:srgbClr val="008C95"/>
            </a:solidFill>
          </a:ln>
        </p:spPr>
      </p:sp>
      <p:sp>
        <p:nvSpPr>
          <p:cNvPr id="22" name="Designer Direction 9" title="Designer Direction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5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652">
            <a:solidFill>
              <a:srgbClr val="008C95"/>
            </a:solidFill>
          </a:ln>
        </p:spPr>
      </p:sp>
      <p:sp>
        <p:nvSpPr>
          <p:cNvPr id="23" name="Designer Direction Chevron 9B" title="Designer Direction Chevron 9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5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652">
            <a:solidFill>
              <a:srgbClr val="008C95"/>
            </a:solidFill>
          </a:ln>
        </p:spPr>
      </p:sp>
      <p:sp>
        <p:nvSpPr>
          <p:cNvPr id="24" name="Designer Direction 10" title="Designer Direction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271">
            <a:solidFill>
              <a:srgbClr val="008C95"/>
            </a:solidFill>
          </a:ln>
        </p:spPr>
      </p:sp>
      <p:sp>
        <p:nvSpPr>
          <p:cNvPr id="25" name="Designer Direction Chevron 10B" title="Designer Direction Chevron 10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271">
            <a:solidFill>
              <a:srgbClr val="008C95"/>
            </a:solidFill>
          </a:ln>
        </p:spPr>
      </p:sp>
      <p:sp>
        <p:nvSpPr>
          <p:cNvPr id="26" name="Designer Direction 11" title="Designer Direction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008C95"/>
            </a:solidFill>
          </a:ln>
        </p:spPr>
      </p:sp>
      <p:sp>
        <p:nvSpPr>
          <p:cNvPr id="27" name="Designer Direction Chevron 11B" title="Designer Direction Chevron 11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008C95"/>
            </a:solidFill>
          </a:ln>
        </p:spPr>
      </p:sp>
      <p:sp>
        <p:nvSpPr>
          <p:cNvPr id="28" name="Designer Direction 12" title="Designer Direction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3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09">
            <a:solidFill>
              <a:srgbClr val="008C95"/>
            </a:solidFill>
          </a:ln>
        </p:spPr>
      </p:sp>
      <p:sp>
        <p:nvSpPr>
          <p:cNvPr id="29" name="Designer Direction Chevron 12B" title="Designer Direction Chevron 12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3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09">
            <a:solidFill>
              <a:srgbClr val="008C95"/>
            </a:solidFill>
          </a:ln>
        </p:spPr>
      </p:sp>
      <p:sp>
        <p:nvSpPr>
          <p:cNvPr id="30" name="TextBox 4" title="Generated alternatives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540000" y="522000"/>
            <a:ext cx="7315017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2900" b="1">
                <a:solidFill>
                  <a:srgbClr val="30343B"/>
                </a:solidFill>
                <a:latin typeface="Poppins"/>
              </a:rPr>
              <a:t>Generated alternatives</a:t>
            </a:r>
            <a:endParaRPr lang="en-US"/>
          </a:p>
        </p:txBody>
      </p:sp>
      <p:sp>
        <p:nvSpPr>
          <p:cNvPr id="31" name="TextBox 5" title="The caller can inspect direction, mood, density, fonts, colors, and recommend...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558000" y="972000"/>
            <a:ext cx="7071183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65717D"/>
                </a:solidFill>
                <a:latin typeface="Aptos"/>
              </a:rPr>
              <a:t>The caller can inspect direction, mood, density, fonts, colors, and recommendation reasons.</a:t>
            </a:r>
            <a:endParaRPr lang="en-US"/>
          </a:p>
        </p:txBody>
      </p:sp>
      <p:sp>
        <p:nvSpPr>
          <p:cNvPr id="32" name="Designer Card 1" title="Designer Card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458000"/>
            <a:ext cx="2602423" cy="37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>
              <a:alpha val="12000"/>
            </a:srgbClr>
          </a:solidFill>
          <a:ln xmlns:a="http://schemas.openxmlformats.org/drawingml/2006/main" w="3175">
            <a:solidFill>
              <a:srgbClr val="008C95"/>
            </a:solidFill>
          </a:ln>
        </p:spPr>
      </p:sp>
      <p:sp>
        <p:nvSpPr>
          <p:cNvPr id="33" name="Designer Card Accent 1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458000"/>
            <a:ext cx="2602423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>
            <a:solidFill>
              <a:srgbClr val="008C95"/>
            </a:solidFill>
          </a:ln>
        </p:spPr>
      </p:sp>
      <p:sp>
        <p:nvSpPr>
          <p:cNvPr id="34" name="TextBox 6" title="Field Proof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02000" y="1692000"/>
            <a:ext cx="2278423" cy="22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0343B"/>
                </a:solidFill>
                <a:latin typeface="Poppins"/>
              </a:rPr>
              <a:t>Field Proof</a:t>
            </a:r>
            <a:endParaRPr lang="en-US"/>
          </a:p>
        </p:txBody>
      </p:sp>
      <p:sp>
        <p:nvSpPr>
          <p:cNvPr id="35" name="TextBox 7" title="Score: 6 SplitComplementary / VisualFirst Energetic / Geometric Poppins + Aptos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38000" y="2016000"/>
            <a:ext cx="2224423" cy="304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Score: 6</a:t>
            </a:r>
            <a:endParaRPr lang="en-US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SplitComplementary / VisualFirst</a:t>
            </a:r>
            <a:endParaRPr lang="en-US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Energetic / Geometric</a:t>
            </a:r>
            <a:endParaRPr lang="en-US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Poppins + Aptos</a:t>
            </a:r>
            <a:endParaRPr lang="en-US"/>
          </a:p>
        </p:txBody>
      </p:sp>
      <p:sp>
        <p:nvSpPr>
          <p:cNvPr id="36" name="Designer Card 2" title="Designer Card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423" y="1458000"/>
            <a:ext cx="2602423" cy="37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>
              <a:alpha val="12000"/>
            </a:srgbClr>
          </a:solidFill>
          <a:ln xmlns:a="http://schemas.openxmlformats.org/drawingml/2006/main" w="3175">
            <a:solidFill>
              <a:srgbClr val="008C95"/>
            </a:solidFill>
          </a:ln>
        </p:spPr>
      </p:sp>
      <p:sp>
        <p:nvSpPr>
          <p:cNvPr id="37" name="Designer Card Accent 2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423" y="1458000"/>
            <a:ext cx="2602423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>
            <a:solidFill>
              <a:srgbClr val="008C95"/>
            </a:solidFill>
          </a:ln>
        </p:spPr>
      </p:sp>
      <p:sp>
        <p:nvSpPr>
          <p:cNvPr id="38" name="TextBox 8" title="Board Story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38423" y="1692000"/>
            <a:ext cx="2278423" cy="22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0343B"/>
                </a:solidFill>
                <a:latin typeface="Poppins"/>
              </a:rPr>
              <a:t>Board Story</a:t>
            </a:r>
            <a:endParaRPr lang="en-US"/>
          </a:p>
        </p:txBody>
      </p:sp>
      <p:sp>
        <p:nvSpPr>
          <p:cNvPr id="39" name="TextBox 9" title="Score: 0 SplitComplementary / VisualFirst Corporate / Soft Georgia + Aptos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74423" y="2016000"/>
            <a:ext cx="2224423" cy="304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Score: 0</a:t>
            </a:r>
            <a:endParaRPr lang="en-US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SplitComplementary / VisualFirst</a:t>
            </a:r>
            <a:endParaRPr lang="en-US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Corporate / Soft</a:t>
            </a:r>
            <a:endParaRPr lang="en-US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Georgia + Aptos</a:t>
            </a:r>
            <a:endParaRPr lang="en-US"/>
          </a:p>
        </p:txBody>
      </p:sp>
      <p:sp>
        <p:nvSpPr>
          <p:cNvPr id="40" name="Designer Card 3" title="Designer Card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2846" y="1458000"/>
            <a:ext cx="2602423" cy="37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>
              <a:alpha val="12000"/>
            </a:srgbClr>
          </a:solidFill>
          <a:ln xmlns:a="http://schemas.openxmlformats.org/drawingml/2006/main" w="3175">
            <a:solidFill>
              <a:srgbClr val="008C95"/>
            </a:solidFill>
          </a:ln>
        </p:spPr>
      </p:sp>
      <p:sp>
        <p:nvSpPr>
          <p:cNvPr id="41" name="Designer Card Accent 3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2846" y="1458000"/>
            <a:ext cx="2602423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>
            <a:solidFill>
              <a:srgbClr val="008C95"/>
            </a:solidFill>
          </a:ln>
        </p:spPr>
      </p:sp>
      <p:sp>
        <p:nvSpPr>
          <p:cNvPr id="42" name="TextBox 10" title="Quiet Appendix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374846" y="1692000"/>
            <a:ext cx="2278423" cy="22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0343B"/>
                </a:solidFill>
                <a:latin typeface="Poppins"/>
              </a:rPr>
              <a:t>Quiet Appendix</a:t>
            </a:r>
            <a:endParaRPr lang="en-US"/>
          </a:p>
        </p:txBody>
      </p:sp>
      <p:sp>
        <p:nvSpPr>
          <p:cNvPr id="43" name="TextBox 11" title="Score: 0 SplitComplementary / VisualFirst Minimal / Minimal Aptos Display + A...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410846" y="2016000"/>
            <a:ext cx="2224423" cy="304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Score: 0</a:t>
            </a:r>
            <a:endParaRPr lang="en-US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SplitComplementary / VisualFirst</a:t>
            </a:r>
            <a:endParaRPr lang="en-US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Minimal / Minimal</a:t>
            </a:r>
            <a:endParaRPr lang="en-US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Aptos Display + Aptos</a:t>
            </a:r>
            <a:endParaRPr lang="en-US"/>
          </a:p>
        </p:txBody>
      </p:sp>
      <p:sp>
        <p:nvSpPr>
          <p:cNvPr id="44" name="Designer Card 4" title="Designer Card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69" y="1458000"/>
            <a:ext cx="2602423" cy="37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>
              <a:alpha val="12000"/>
            </a:srgbClr>
          </a:solidFill>
          <a:ln xmlns:a="http://schemas.openxmlformats.org/drawingml/2006/main" w="3175">
            <a:solidFill>
              <a:srgbClr val="008C95"/>
            </a:solidFill>
          </a:ln>
        </p:spPr>
      </p:sp>
      <p:sp>
        <p:nvSpPr>
          <p:cNvPr id="45" name="Designer Card Accent 4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69" y="1458000"/>
            <a:ext cx="2602423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>
            <a:solidFill>
              <a:srgbClr val="008C95"/>
            </a:solidFill>
          </a:ln>
        </p:spPr>
      </p:sp>
      <p:sp>
        <p:nvSpPr>
          <p:cNvPr id="46" name="TextBox 12" title="Structured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9211269" y="1692000"/>
            <a:ext cx="2278423" cy="22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0343B"/>
                </a:solidFill>
                <a:latin typeface="Poppins"/>
              </a:rPr>
              <a:t>Structured</a:t>
            </a:r>
            <a:endParaRPr lang="en-US"/>
          </a:p>
        </p:txBody>
      </p:sp>
      <p:sp>
        <p:nvSpPr>
          <p:cNvPr id="47" name="TextBox 13" title="Score: 3 SplitComplementary / VisualFirst Corporate / Geometric Poppins + Lato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9247269" y="2016000"/>
            <a:ext cx="2224423" cy="304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Score: 3</a:t>
            </a:r>
            <a:endParaRPr lang="en-US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SplitComplementary / VisualFirst</a:t>
            </a:r>
            <a:endParaRPr lang="en-US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Corporate / Geometric</a:t>
            </a:r>
            <a:endParaRPr lang="en-US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200"/>
              </a:spcAft>
              <a:buSzPct val="70000"/>
              <a:buChar char="•"/>
            </a:pPr>
            <a:r>
              <a:rPr lang="en-US" sz="900">
                <a:solidFill>
                  <a:srgbClr val="65717D"/>
                </a:solidFill>
                <a:latin typeface="Aptos"/>
              </a:rPr>
              <a:t> Poppins + Lato</a:t>
            </a:r>
            <a:endParaRPr lang="en-US"/>
          </a:p>
        </p:txBody>
      </p:sp>
      <p:sp>
        <p:nvSpPr>
          <p:cNvPr id="48" name="Designer Supporting Band" title="Designer Supporting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00" y="5688000"/>
            <a:ext cx="11075695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5E3EA"/>
            </a:solidFill>
          </a:ln>
          <a:effectLst xmlns:a="http://schemas.openxmlformats.org/drawingml/2006/main">
            <a:outerShdw blurRad="50800" dist="12700" dir="5400000" rotWithShape="0">
              <a:srgbClr val="000000">
                <a:alpha val="12000"/>
              </a:srgbClr>
            </a:outerShdw>
          </a:effectLst>
        </p:spPr>
      </p:sp>
      <p:sp>
        <p:nvSpPr>
          <p:cNvPr id="49" name="TextBox 14" title="Recommendations are explainable, not hidden template magic.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74000" y="5850000"/>
            <a:ext cx="10643695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65717D"/>
                </a:solidFill>
                <a:latin typeface="Aptos"/>
              </a:rPr>
              <a:t>Recommendations are explainable, not hidden template magic.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65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esigner Plane Left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0000" y="0"/>
            <a:ext cx="5852014" cy="6858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30343B">
              <a:alpha val="82000"/>
            </a:srgbClr>
          </a:solidFill>
          <a:ln xmlns:a="http://schemas.openxmlformats.org/drawingml/2006/main">
            <a:solidFill>
              <a:srgbClr val="30343B"/>
            </a:solidFill>
          </a:ln>
        </p:spPr>
      </p:sp>
      <p:sp>
        <p:nvSpPr>
          <p:cNvPr id="3" name="Designer Plane Midd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180" y="0"/>
            <a:ext cx="3291758" cy="6858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0656B">
              <a:alpha val="65000"/>
            </a:srgbClr>
          </a:solidFill>
          <a:ln xmlns:a="http://schemas.openxmlformats.org/drawingml/2006/main">
            <a:solidFill>
              <a:srgbClr val="00656B"/>
            </a:solidFill>
          </a:ln>
        </p:spPr>
      </p:sp>
      <p:sp>
        <p:nvSpPr>
          <p:cNvPr id="4" name="TextBox 1" title="Slide title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48000" y="378000"/>
            <a:ext cx="2880000" cy="12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>
                <a:solidFill>
                  <a:srgbClr val="B2DCDF"/>
                </a:solidFill>
                <a:latin typeface="Aptos"/>
              </a:rPr>
              <a:t>OfficeIMO.PowerPoint</a:t>
            </a:r>
            <a:endParaRPr lang="en-US"/>
          </a:p>
        </p:txBody>
      </p:sp>
      <p:sp>
        <p:nvSpPr>
          <p:cNvPr id="5" name="TextBox 2" title="OFFICEIMO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30000" y="6372000"/>
            <a:ext cx="2160000" cy="1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Poppins"/>
              </a:rPr>
              <a:t>OFFICEIMO</a:t>
            </a:r>
            <a:endParaRPr lang="en-US"/>
          </a:p>
        </p:txBody>
      </p:sp>
      <p:sp>
        <p:nvSpPr>
          <p:cNvPr id="6" name="TextBox 3" title="Design brief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10247695" y="6372000"/>
            <a:ext cx="1476000" cy="1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200" b="1">
                <a:solidFill>
                  <a:srgbClr val="FFFFFF"/>
                </a:solidFill>
                <a:latin typeface="Poppins"/>
              </a:rPr>
              <a:t>Design brief</a:t>
            </a:r>
            <a:endParaRPr lang="en-US"/>
          </a:p>
        </p:txBody>
      </p:sp>
      <p:sp>
        <p:nvSpPr>
          <p:cNvPr id="7" name="TextBox 4" title="Caller workflow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66000" y="522000"/>
            <a:ext cx="6339681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3300" b="1">
                <a:solidFill>
                  <a:srgbClr val="FFFFFF"/>
                </a:solidFill>
                <a:latin typeface="Poppins"/>
              </a:rPr>
              <a:t>Caller workflow</a:t>
            </a:r>
            <a:endParaRPr lang="en-US"/>
          </a:p>
        </p:txBody>
      </p:sp>
      <p:sp>
        <p:nvSpPr>
          <p:cNvPr id="8" name="TextBox 5" title="Keep the API simple while preserving room for different visual outcomes.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84000" y="1000800"/>
            <a:ext cx="7071183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B2DCDF"/>
                </a:solidFill>
                <a:latin typeface="Aptos"/>
              </a:rPr>
              <a:t>Keep the API simple while preserving room for different visual outcomes.</a:t>
            </a:r>
            <a:endParaRPr lang="en-US"/>
          </a:p>
        </p:txBody>
      </p:sp>
      <p:sp>
        <p:nvSpPr>
          <p:cNvPr id="9" name="Process Connector 1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200" y="3432060"/>
            <a:ext cx="2204623" cy="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8C95"/>
            </a:solidFill>
            <a:headEnd type="none" w="sm" len="sm"/>
            <a:tailEnd type="triangle" w="sm" len="sm"/>
          </a:ln>
        </p:spPr>
      </p:sp>
      <p:sp>
        <p:nvSpPr>
          <p:cNvPr id="10" name="Process Connector 2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623" y="3432060"/>
            <a:ext cx="2204623" cy="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24912"/>
            </a:solidFill>
            <a:headEnd type="none" w="sm" len="sm"/>
            <a:tailEnd type="triangle" w="sm" len="sm"/>
          </a:ln>
        </p:spPr>
      </p:sp>
      <p:sp>
        <p:nvSpPr>
          <p:cNvPr id="11" name="Process Connector 3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046" y="3432060"/>
            <a:ext cx="2204623" cy="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8B153D"/>
            </a:solidFill>
            <a:headEnd type="none" w="sm" len="sm"/>
            <a:tailEnd type="triangle" w="sm" len="sm"/>
          </a:ln>
        </p:spPr>
      </p:sp>
      <p:sp>
        <p:nvSpPr>
          <p:cNvPr id="12" name="Process Node Halo 1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00" y="3194460"/>
            <a:ext cx="475200" cy="47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DCDF">
              <a:alpha val="22000"/>
            </a:srgbClr>
          </a:solidFill>
          <a:ln xmlns:a="http://schemas.openxmlformats.org/drawingml/2006/main" w="2540">
            <a:solidFill>
              <a:srgbClr val="B2DCDF"/>
            </a:solidFill>
          </a:ln>
        </p:spPr>
      </p:sp>
      <p:sp>
        <p:nvSpPr>
          <p:cNvPr id="13" name="Process Node 1" title="Process Nod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00" y="3223260"/>
            <a:ext cx="417600" cy="41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56B">
              <a:alpha val="92000"/>
            </a:srgbClr>
          </a:solidFill>
          <a:ln xmlns:a="http://schemas.openxmlformats.org/drawingml/2006/main" w="15240">
            <a:solidFill>
              <a:srgbClr val="B2DCDF"/>
            </a:solidFill>
          </a:ln>
        </p:spPr>
      </p:sp>
      <p:sp>
        <p:nvSpPr>
          <p:cNvPr id="14" name="TextBox 6" title="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56000" y="3219660"/>
            <a:ext cx="417600" cy="41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oppins"/>
              </a:rPr>
              <a:t>1</a:t>
            </a:r>
            <a:endParaRPr lang="en-US"/>
          </a:p>
        </p:txBody>
      </p:sp>
      <p:sp>
        <p:nvSpPr>
          <p:cNvPr id="15" name="TextBox 7" title="Describe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56000" y="3781260"/>
            <a:ext cx="2467423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Poppins"/>
              </a:rPr>
              <a:t>Describe</a:t>
            </a:r>
            <a:endParaRPr lang="en-US"/>
          </a:p>
        </p:txBody>
      </p:sp>
      <p:sp>
        <p:nvSpPr>
          <p:cNvPr id="16" name="TextBox 8" title="Create deterministic alternatives from brand, seed, and purpose.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56000" y="4105260"/>
            <a:ext cx="2467423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B2DCDF"/>
                </a:solidFill>
                <a:latin typeface="Aptos"/>
              </a:rPr>
              <a:t>Create deterministic alternatives from brand, seed, and purpose.</a:t>
            </a:r>
            <a:endParaRPr lang="en-US"/>
          </a:p>
        </p:txBody>
      </p:sp>
      <p:sp>
        <p:nvSpPr>
          <p:cNvPr id="17" name="Process Node Halo 2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623" y="3194460"/>
            <a:ext cx="475200" cy="47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DCDF">
              <a:alpha val="22000"/>
            </a:srgbClr>
          </a:solidFill>
          <a:ln xmlns:a="http://schemas.openxmlformats.org/drawingml/2006/main" w="2540">
            <a:solidFill>
              <a:srgbClr val="B2DCDF"/>
            </a:solidFill>
          </a:ln>
        </p:spPr>
      </p:sp>
      <p:sp>
        <p:nvSpPr>
          <p:cNvPr id="18" name="Process Node 2" title="Process Nod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423" y="3223260"/>
            <a:ext cx="417600" cy="41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56B">
              <a:alpha val="92000"/>
            </a:srgbClr>
          </a:solidFill>
          <a:ln xmlns:a="http://schemas.openxmlformats.org/drawingml/2006/main" w="15240">
            <a:solidFill>
              <a:srgbClr val="B2DCDF"/>
            </a:solidFill>
          </a:ln>
        </p:spPr>
      </p:sp>
      <p:sp>
        <p:nvSpPr>
          <p:cNvPr id="19" name="TextBox 9" title="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493423" y="3219660"/>
            <a:ext cx="417600" cy="41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oppins"/>
              </a:rPr>
              <a:t>2</a:t>
            </a:r>
            <a:endParaRPr lang="en-US"/>
          </a:p>
        </p:txBody>
      </p:sp>
      <p:sp>
        <p:nvSpPr>
          <p:cNvPr id="20" name="TextBox 10" title="Recommend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493423" y="3781260"/>
            <a:ext cx="2467423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Poppins"/>
              </a:rPr>
              <a:t>Recommend</a:t>
            </a:r>
            <a:endParaRPr lang="en-US"/>
          </a:p>
        </p:txBody>
      </p:sp>
      <p:sp>
        <p:nvSpPr>
          <p:cNvPr id="21" name="TextBox 11" title="Rank alternatives against explicit design preferences.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493423" y="4105260"/>
            <a:ext cx="2467423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B2DCDF"/>
                </a:solidFill>
                <a:latin typeface="Aptos"/>
              </a:rPr>
              <a:t>Rank alternatives against explicit design preferences.</a:t>
            </a:r>
            <a:endParaRPr lang="en-US"/>
          </a:p>
        </p:txBody>
      </p:sp>
      <p:sp>
        <p:nvSpPr>
          <p:cNvPr id="22" name="Process Node Halo 3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046" y="3194460"/>
            <a:ext cx="475200" cy="47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DCDF">
              <a:alpha val="22000"/>
            </a:srgbClr>
          </a:solidFill>
          <a:ln xmlns:a="http://schemas.openxmlformats.org/drawingml/2006/main" w="2540">
            <a:solidFill>
              <a:srgbClr val="B2DCDF"/>
            </a:solidFill>
          </a:ln>
        </p:spPr>
      </p:sp>
      <p:sp>
        <p:nvSpPr>
          <p:cNvPr id="23" name="Process Node 3" title="Process Nod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846" y="3223260"/>
            <a:ext cx="417600" cy="41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56B">
              <a:alpha val="92000"/>
            </a:srgbClr>
          </a:solidFill>
          <a:ln xmlns:a="http://schemas.openxmlformats.org/drawingml/2006/main" w="15240">
            <a:solidFill>
              <a:srgbClr val="B2DCDF"/>
            </a:solidFill>
          </a:ln>
        </p:spPr>
      </p:sp>
      <p:sp>
        <p:nvSpPr>
          <p:cNvPr id="24" name="TextBox 12" title="3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230846" y="3219660"/>
            <a:ext cx="417600" cy="41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oppins"/>
              </a:rPr>
              <a:t>3</a:t>
            </a:r>
            <a:endParaRPr lang="en-US"/>
          </a:p>
        </p:txBody>
      </p:sp>
      <p:sp>
        <p:nvSpPr>
          <p:cNvPr id="25" name="TextBox 13" title="Select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230846" y="3781260"/>
            <a:ext cx="2467423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Poppins"/>
              </a:rPr>
              <a:t>Select</a:t>
            </a:r>
            <a:endParaRPr lang="en-US"/>
          </a:p>
        </p:txBody>
      </p:sp>
      <p:sp>
        <p:nvSpPr>
          <p:cNvPr id="26" name="TextBox 14" title="Use the chosen alternative index for the deck composer.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230846" y="4105260"/>
            <a:ext cx="2467423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B2DCDF"/>
                </a:solidFill>
                <a:latin typeface="Aptos"/>
              </a:rPr>
              <a:t>Use the chosen alternative index for the deck composer.</a:t>
            </a:r>
            <a:endParaRPr lang="en-US"/>
          </a:p>
        </p:txBody>
      </p:sp>
      <p:sp>
        <p:nvSpPr>
          <p:cNvPr id="27" name="Process Node Halo 4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469" y="3194460"/>
            <a:ext cx="475200" cy="47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DCDF">
              <a:alpha val="22000"/>
            </a:srgbClr>
          </a:solidFill>
          <a:ln xmlns:a="http://schemas.openxmlformats.org/drawingml/2006/main" w="2540">
            <a:solidFill>
              <a:srgbClr val="B2DCDF"/>
            </a:solidFill>
          </a:ln>
        </p:spPr>
      </p:sp>
      <p:sp>
        <p:nvSpPr>
          <p:cNvPr id="28" name="Process Node 4" title="Process Nod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269" y="3223260"/>
            <a:ext cx="417600" cy="41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56B">
              <a:alpha val="92000"/>
            </a:srgbClr>
          </a:solidFill>
          <a:ln xmlns:a="http://schemas.openxmlformats.org/drawingml/2006/main" w="15240">
            <a:solidFill>
              <a:srgbClr val="B2DCDF"/>
            </a:solidFill>
          </a:ln>
        </p:spPr>
      </p:sp>
      <p:sp>
        <p:nvSpPr>
          <p:cNvPr id="29" name="TextBox 15" title="4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8968269" y="3219660"/>
            <a:ext cx="417600" cy="41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Poppins"/>
              </a:rPr>
              <a:t>4</a:t>
            </a:r>
            <a:endParaRPr lang="en-US"/>
          </a:p>
        </p:txBody>
      </p:sp>
      <p:sp>
        <p:nvSpPr>
          <p:cNvPr id="30" name="TextBox 16" title="Compose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8968269" y="3781260"/>
            <a:ext cx="2467423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Poppins"/>
              </a:rPr>
              <a:t>Compose</a:t>
            </a:r>
            <a:endParaRPr lang="en-US"/>
          </a:p>
        </p:txBody>
      </p:sp>
      <p:sp>
        <p:nvSpPr>
          <p:cNvPr id="31" name="TextBox 17" title="Mix semantic slides with raw composition primitives.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8968269" y="4105260"/>
            <a:ext cx="2467423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B2DCDF"/>
                </a:solidFill>
                <a:latin typeface="Aptos"/>
              </a:rPr>
              <a:t>Mix semantic slides with raw composition primitives.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esigner Light Diagona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675" y="0"/>
            <a:ext cx="2682173" cy="6858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6FAFC">
              <a:alpha val="65000"/>
            </a:srgbClr>
          </a:solidFill>
          <a:ln xmlns:a="http://schemas.openxmlformats.org/drawingml/2006/main">
            <a:solidFill>
              <a:srgbClr val="F6FAFC"/>
            </a:solidFill>
          </a:ln>
        </p:spPr>
      </p:sp>
      <p:sp>
        <p:nvSpPr>
          <p:cNvPr id="3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48000" y="378000"/>
            <a:ext cx="2880000" cy="12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8A949E"/>
                </a:solidFill>
                <a:latin typeface="Aptos"/>
              </a:rPr>
              <a:t>OfficeIMO.PowerPoint</a:t>
            </a:r>
          </a:p>
        </p:txBody>
      </p:sp>
      <p:sp>
        <p:nvSpPr>
          <p:cNvPr id="4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30000" y="6372000"/>
            <a:ext cx="2160000" cy="1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0656B"/>
                </a:solidFill>
                <a:latin typeface="Poppins"/>
              </a:rPr>
              <a:t>OFFICEIMO</a:t>
            </a:r>
          </a:p>
        </p:txBody>
      </p:sp>
      <p:sp>
        <p:nvSpPr>
          <p:cNvPr id="5" name="TextBox 3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10247695" y="6372000"/>
            <a:ext cx="1476000" cy="1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1">
                <a:solidFill>
                  <a:srgbClr val="00656B"/>
                </a:solidFill>
                <a:latin typeface="Poppins"/>
              </a:rPr>
              <a:t>Recommended</a:t>
            </a:r>
          </a:p>
        </p:txBody>
      </p:sp>
      <p:sp>
        <p:nvSpPr>
          <p:cNvPr id="6" name="Designer Direction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8C95"/>
            </a:solidFill>
          </a:ln>
        </p:spPr>
      </p:sp>
      <p:sp>
        <p:nvSpPr>
          <p:cNvPr id="7" name="Designer Direction Chevron 1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8C95"/>
            </a:solidFill>
          </a:ln>
        </p:spPr>
      </p:sp>
      <p:sp>
        <p:nvSpPr>
          <p:cNvPr id="8" name="Designer Direction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19">
            <a:solidFill>
              <a:srgbClr val="008C95"/>
            </a:solidFill>
          </a:ln>
        </p:spPr>
      </p:sp>
      <p:sp>
        <p:nvSpPr>
          <p:cNvPr id="9" name="Designer Direction Chevron 2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19">
            <a:solidFill>
              <a:srgbClr val="008C95"/>
            </a:solidFill>
          </a:ln>
        </p:spPr>
      </p:sp>
      <p:sp>
        <p:nvSpPr>
          <p:cNvPr id="10" name="Designer Direction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38">
            <a:solidFill>
              <a:srgbClr val="008C95"/>
            </a:solidFill>
          </a:ln>
        </p:spPr>
      </p:sp>
      <p:sp>
        <p:nvSpPr>
          <p:cNvPr id="11" name="Designer Direction Chevron 3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38">
            <a:solidFill>
              <a:srgbClr val="008C95"/>
            </a:solidFill>
          </a:ln>
        </p:spPr>
      </p:sp>
      <p:sp>
        <p:nvSpPr>
          <p:cNvPr id="12" name="Designer Direction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5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57">
            <a:solidFill>
              <a:srgbClr val="008C95"/>
            </a:solidFill>
          </a:ln>
        </p:spPr>
      </p:sp>
      <p:sp>
        <p:nvSpPr>
          <p:cNvPr id="13" name="Designer Direction Chevron 4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5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57">
            <a:solidFill>
              <a:srgbClr val="008C95"/>
            </a:solidFill>
          </a:ln>
        </p:spPr>
      </p:sp>
      <p:sp>
        <p:nvSpPr>
          <p:cNvPr id="14" name="Designer Direction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1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176">
            <a:solidFill>
              <a:srgbClr val="008C95"/>
            </a:solidFill>
          </a:ln>
        </p:spPr>
      </p:sp>
      <p:sp>
        <p:nvSpPr>
          <p:cNvPr id="15" name="Designer Direction Chevron 5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1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176">
            <a:solidFill>
              <a:srgbClr val="008C95"/>
            </a:solidFill>
          </a:ln>
        </p:spPr>
      </p:sp>
      <p:sp>
        <p:nvSpPr>
          <p:cNvPr id="16" name="Designer Direction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795">
            <a:solidFill>
              <a:srgbClr val="008C95"/>
            </a:solidFill>
          </a:ln>
        </p:spPr>
      </p:sp>
      <p:sp>
        <p:nvSpPr>
          <p:cNvPr id="17" name="Designer Direction Chevron 6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795">
            <a:solidFill>
              <a:srgbClr val="008C95"/>
            </a:solidFill>
          </a:ln>
        </p:spPr>
      </p:sp>
      <p:sp>
        <p:nvSpPr>
          <p:cNvPr id="18" name="Designer Direction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14">
            <a:solidFill>
              <a:srgbClr val="008C95"/>
            </a:solidFill>
          </a:ln>
        </p:spPr>
      </p:sp>
      <p:sp>
        <p:nvSpPr>
          <p:cNvPr id="19" name="Designer Direction Chevron 7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14">
            <a:solidFill>
              <a:srgbClr val="008C95"/>
            </a:solidFill>
          </a:ln>
        </p:spPr>
      </p:sp>
      <p:sp>
        <p:nvSpPr>
          <p:cNvPr id="20" name="Designer Direction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33">
            <a:solidFill>
              <a:srgbClr val="008C95"/>
            </a:solidFill>
          </a:ln>
        </p:spPr>
      </p:sp>
      <p:sp>
        <p:nvSpPr>
          <p:cNvPr id="21" name="Designer Direction Chevron 8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33">
            <a:solidFill>
              <a:srgbClr val="008C95"/>
            </a:solidFill>
          </a:ln>
        </p:spPr>
      </p:sp>
      <p:sp>
        <p:nvSpPr>
          <p:cNvPr id="22" name="Designer Direction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5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652">
            <a:solidFill>
              <a:srgbClr val="008C95"/>
            </a:solidFill>
          </a:ln>
        </p:spPr>
      </p:sp>
      <p:sp>
        <p:nvSpPr>
          <p:cNvPr id="23" name="Designer Direction Chevron 9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5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652">
            <a:solidFill>
              <a:srgbClr val="008C95"/>
            </a:solidFill>
          </a:ln>
        </p:spPr>
      </p:sp>
      <p:sp>
        <p:nvSpPr>
          <p:cNvPr id="24" name="Designer Direction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271">
            <a:solidFill>
              <a:srgbClr val="008C95"/>
            </a:solidFill>
          </a:ln>
        </p:spPr>
      </p:sp>
      <p:sp>
        <p:nvSpPr>
          <p:cNvPr id="25" name="Designer Direction Chevron 10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271">
            <a:solidFill>
              <a:srgbClr val="008C95"/>
            </a:solidFill>
          </a:ln>
        </p:spPr>
      </p:sp>
      <p:sp>
        <p:nvSpPr>
          <p:cNvPr id="26" name="Designer Direction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008C95"/>
            </a:solidFill>
          </a:ln>
        </p:spPr>
      </p:sp>
      <p:sp>
        <p:nvSpPr>
          <p:cNvPr id="27" name="Designer Direction Chevron 11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008C95"/>
            </a:solidFill>
          </a:ln>
        </p:spPr>
      </p:sp>
      <p:sp>
        <p:nvSpPr>
          <p:cNvPr id="28" name="Designer Direction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3695" y="540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09">
            <a:solidFill>
              <a:srgbClr val="008C95"/>
            </a:solidFill>
          </a:ln>
        </p:spPr>
      </p:sp>
      <p:sp>
        <p:nvSpPr>
          <p:cNvPr id="29" name="Designer Direction Chevron 12B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3695" y="576000"/>
            <a:ext cx="79200" cy="3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09">
            <a:solidFill>
              <a:srgbClr val="008C95"/>
            </a:solidFill>
          </a:ln>
        </p:spPr>
      </p:sp>
      <p:sp>
        <p:nvSpPr>
          <p:cNvPr id="30" name="TextBox 4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594000" y="522000"/>
            <a:ext cx="7558851" cy="37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3100" b="1">
                <a:solidFill>
                  <a:srgbClr val="30343B"/>
                </a:solidFill>
                <a:latin typeface="Poppins"/>
              </a:rPr>
              <a:t>Selected direction</a:t>
            </a:r>
          </a:p>
        </p:txBody>
      </p:sp>
      <p:sp>
        <p:nvSpPr>
          <p:cNvPr id="31" name="TextBox 5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12000" y="954000"/>
            <a:ext cx="7071183" cy="19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65717D"/>
                </a:solidFill>
                <a:latin typeface="Aptos"/>
              </a:rPr>
              <a:t>Field Proof</a:t>
            </a:r>
          </a:p>
        </p:txBody>
      </p:sp>
      <p:sp>
        <p:nvSpPr>
          <p:cNvPr id="32" name="Designer Card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386000"/>
            <a:ext cx="5411847" cy="110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>
              <a:alpha val="12000"/>
            </a:srgbClr>
          </a:solidFill>
          <a:ln xmlns:a="http://schemas.openxmlformats.org/drawingml/2006/main" w="3175">
            <a:solidFill>
              <a:srgbClr val="008C95"/>
            </a:solidFill>
          </a:ln>
        </p:spPr>
      </p:sp>
      <p:sp>
        <p:nvSpPr>
          <p:cNvPr id="33" name="Designer Card Accent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386000"/>
            <a:ext cx="46800" cy="110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>
            <a:solidFill>
              <a:srgbClr val="008C95"/>
            </a:solidFill>
          </a:ln>
        </p:spPr>
      </p:sp>
      <p:sp>
        <p:nvSpPr>
          <p:cNvPr id="34" name="TextBox 6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56000" y="1620000"/>
            <a:ext cx="5087847" cy="22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30343B"/>
                </a:solidFill>
                <a:latin typeface="Poppins"/>
              </a:rPr>
              <a:t>Reason 1</a:t>
            </a:r>
          </a:p>
        </p:txBody>
      </p:sp>
      <p:sp>
        <p:nvSpPr>
          <p:cNvPr id="35" name="TextBox 7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92000" y="1944000"/>
            <a:ext cx="5033847" cy="42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400"/>
              </a:spcAft>
              <a:buSzPct val="70000"/>
              <a:buChar char="•"/>
            </a:pPr>
            <a:r>
              <a:rPr sz="900">
                <a:solidFill>
                  <a:srgbClr val="65717D"/>
                </a:solidFill>
                <a:latin typeface="Aptos"/>
              </a:rPr>
              <a:t> Matches preferred mood: Energetic.</a:t>
            </a:r>
          </a:p>
        </p:txBody>
      </p:sp>
      <p:sp>
        <p:nvSpPr>
          <p:cNvPr id="36" name="Designer Card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643300"/>
            <a:ext cx="5411847" cy="110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4912">
              <a:alpha val="12000"/>
            </a:srgbClr>
          </a:solidFill>
          <a:ln xmlns:a="http://schemas.openxmlformats.org/drawingml/2006/main" w="3175">
            <a:solidFill>
              <a:srgbClr val="924912"/>
            </a:solidFill>
          </a:ln>
        </p:spPr>
      </p:sp>
      <p:sp>
        <p:nvSpPr>
          <p:cNvPr id="37" name="Designer Card Accent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643300"/>
            <a:ext cx="46800" cy="110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4912"/>
          </a:solidFill>
          <a:ln xmlns:a="http://schemas.openxmlformats.org/drawingml/2006/main">
            <a:solidFill>
              <a:srgbClr val="924912"/>
            </a:solidFill>
          </a:ln>
        </p:spPr>
      </p:sp>
      <p:sp>
        <p:nvSpPr>
          <p:cNvPr id="38" name="TextBox 8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56000" y="2877300"/>
            <a:ext cx="5087847" cy="22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30343B"/>
                </a:solidFill>
                <a:latin typeface="Poppins"/>
              </a:rPr>
              <a:t>Reason 2</a:t>
            </a:r>
          </a:p>
        </p:txBody>
      </p:sp>
      <p:sp>
        <p:nvSpPr>
          <p:cNvPr id="39" name="TextBox 9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92000" y="3201300"/>
            <a:ext cx="5033847" cy="42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400"/>
              </a:spcAft>
              <a:buSzPct val="70000"/>
              <a:buChar char="•"/>
            </a:pPr>
            <a:r>
              <a:rPr sz="900">
                <a:solidFill>
                  <a:srgbClr val="65717D"/>
                </a:solidFill>
                <a:latin typeface="Aptos"/>
              </a:rPr>
              <a:t> Matches preferred visual style: Geometric.</a:t>
            </a:r>
          </a:p>
        </p:txBody>
      </p:sp>
      <p:sp>
        <p:nvSpPr>
          <p:cNvPr id="40" name="Designer Card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900600"/>
            <a:ext cx="5411847" cy="110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53D">
              <a:alpha val="12000"/>
            </a:srgbClr>
          </a:solidFill>
          <a:ln xmlns:a="http://schemas.openxmlformats.org/drawingml/2006/main" w="3175">
            <a:solidFill>
              <a:srgbClr val="8B153D"/>
            </a:solidFill>
          </a:ln>
        </p:spPr>
      </p:sp>
      <p:sp>
        <p:nvSpPr>
          <p:cNvPr id="41" name="Designer Card Accent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900600"/>
            <a:ext cx="46800" cy="110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53D"/>
          </a:solidFill>
          <a:ln xmlns:a="http://schemas.openxmlformats.org/drawingml/2006/main">
            <a:solidFill>
              <a:srgbClr val="8B153D"/>
            </a:solidFill>
          </a:ln>
        </p:spPr>
      </p:sp>
      <p:sp>
        <p:nvSpPr>
          <p:cNvPr id="42" name="TextBox 10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56000" y="4134600"/>
            <a:ext cx="5087847" cy="22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30343B"/>
                </a:solidFill>
                <a:latin typeface="Poppins"/>
              </a:rPr>
              <a:t>Reason 3</a:t>
            </a:r>
          </a:p>
        </p:txBody>
      </p:sp>
      <p:sp>
        <p:nvSpPr>
          <p:cNvPr id="43" name="TextBox 1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92000" y="4458600"/>
            <a:ext cx="5033847" cy="42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400"/>
              </a:spcAft>
              <a:buSzPct val="70000"/>
              <a:buChar char="•"/>
            </a:pPr>
            <a:r>
              <a:rPr sz="900">
                <a:solidFill>
                  <a:srgbClr val="65717D"/>
                </a:solidFill>
                <a:latin typeface="Aptos"/>
              </a:rPr>
              <a:t> Matches preferred density: Balanced.</a:t>
            </a:r>
          </a:p>
        </p:txBody>
      </p:sp>
      <p:sp>
        <p:nvSpPr>
          <p:cNvPr id="44" name="Designer Card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5157900"/>
            <a:ext cx="5411847" cy="110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6B">
              <a:alpha val="12000"/>
            </a:srgbClr>
          </a:solidFill>
          <a:ln xmlns:a="http://schemas.openxmlformats.org/drawingml/2006/main" w="3175">
            <a:solidFill>
              <a:srgbClr val="00656B"/>
            </a:solidFill>
          </a:ln>
        </p:spPr>
      </p:sp>
      <p:sp>
        <p:nvSpPr>
          <p:cNvPr id="45" name="Designer Card Accent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5157900"/>
            <a:ext cx="46800" cy="110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6B"/>
          </a:solidFill>
          <a:ln xmlns:a="http://schemas.openxmlformats.org/drawingml/2006/main">
            <a:solidFill>
              <a:srgbClr val="00656B"/>
            </a:solidFill>
          </a:ln>
        </p:spPr>
      </p:sp>
      <p:sp>
        <p:nvSpPr>
          <p:cNvPr id="46" name="TextBox 1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56000" y="5391900"/>
            <a:ext cx="5087847" cy="22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30343B"/>
                </a:solidFill>
                <a:latin typeface="Poppins"/>
              </a:rPr>
              <a:t>Reason 4</a:t>
            </a:r>
          </a:p>
        </p:txBody>
      </p:sp>
      <p:sp>
        <p:nvSpPr>
          <p:cNvPr id="47" name="TextBox 13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92000" y="5715900"/>
            <a:ext cx="5033847" cy="42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152400" indent="-152400">
              <a:lnSpc>
                <a:spcPct val="115000"/>
              </a:lnSpc>
              <a:spcAft>
                <a:spcPts val="400"/>
              </a:spcAft>
              <a:buSzPct val="70000"/>
              <a:buChar char="•"/>
            </a:pPr>
            <a:r>
              <a:rPr sz="800">
                <a:solidFill>
                  <a:srgbClr val="65717D"/>
                </a:solidFill>
                <a:latin typeface="Aptos"/>
              </a:rPr>
              <a:t> Exploratory variety allows broader directions when more visual distance is useful.</a:t>
            </a:r>
          </a:p>
        </p:txBody>
      </p:sp>
      <p:sp>
        <p:nvSpPr>
          <p:cNvPr id="48" name="Composer Metric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847" y="1386000"/>
            <a:ext cx="5411847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>
              <a:alpha val="100000"/>
            </a:srgbClr>
          </a:solidFill>
          <a:ln xmlns:a="http://schemas.openxmlformats.org/drawingml/2006/main" w="5715">
            <a:solidFill>
              <a:srgbClr val="008C95"/>
            </a:solidFill>
          </a:ln>
          <a:effectLst xmlns:a="http://schemas.openxmlformats.org/drawingml/2006/main">
            <a:outerShdw blurRad="38100" dist="10160" dir="5400000" rotWithShape="0">
              <a:srgbClr val="000000">
                <a:alpha val="10000"/>
              </a:srgbClr>
            </a:outerShdw>
          </a:effectLst>
        </p:spPr>
      </p:sp>
      <p:sp>
        <p:nvSpPr>
          <p:cNvPr id="49" name="TextBox 14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239847" y="1386000"/>
            <a:ext cx="1695949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sz="29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50" name="TextBox 15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239847" y="1753200"/>
            <a:ext cx="1695949" cy="42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preference score</a:t>
            </a:r>
          </a:p>
        </p:txBody>
      </p:sp>
      <p:sp>
        <p:nvSpPr>
          <p:cNvPr id="51" name="TextBox 16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8097796" y="1386000"/>
            <a:ext cx="1695949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sz="29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2" name="TextBox 17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8097796" y="1753200"/>
            <a:ext cx="1695949" cy="42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selected option</a:t>
            </a:r>
          </a:p>
        </p:txBody>
      </p:sp>
      <p:sp>
        <p:nvSpPr>
          <p:cNvPr id="53" name="TextBox 18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9955745" y="1386000"/>
            <a:ext cx="1695949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sz="29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54" name="TextBox 19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9955745" y="1753200"/>
            <a:ext cx="1695949" cy="42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reasons</a:t>
            </a:r>
          </a:p>
        </p:txBody>
      </p:sp>
      <p:sp>
        <p:nvSpPr>
          <p:cNvPr id="55" name="Case Study Visual Fr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847" y="2304000"/>
            <a:ext cx="5411847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6B"/>
          </a:solidFill>
          <a:ln xmlns:a="http://schemas.openxmlformats.org/drawingml/2006/main" w="0">
            <a:solidFill>
              <a:srgbClr val="00656B"/>
            </a:solidFill>
          </a:ln>
          <a:effectLst xmlns:a="http://schemas.openxmlformats.org/drawingml/2006/main">
            <a:outerShdw blurRad="63500" dist="19050" dir="5400000" rotWithShape="0">
              <a:srgbClr val="000000">
                <a:alpha val="18000"/>
              </a:srgbClr>
            </a:outerShdw>
          </a:effectLst>
        </p:spPr>
      </p:sp>
      <p:sp>
        <p:nvSpPr>
          <p:cNvPr id="56" name="Case Study Visual Surfac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647" y="2332800"/>
            <a:ext cx="5354247" cy="6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6B"/>
          </a:solidFill>
          <a:ln xmlns:a="http://schemas.openxmlformats.org/drawingml/2006/main">
            <a:solidFill>
              <a:srgbClr val="00656B"/>
            </a:solidFill>
          </a:ln>
        </p:spPr>
      </p:sp>
      <p:sp>
        <p:nvSpPr>
          <p:cNvPr id="57" name="Visual Proof Ma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359" y="2385792"/>
            <a:ext cx="4818822" cy="516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5080">
            <a:solidFill>
              <a:srgbClr val="B2DCDF"/>
            </a:solidFill>
          </a:ln>
        </p:spPr>
      </p:sp>
      <p:sp>
        <p:nvSpPr>
          <p:cNvPr id="58" name="Visual Proof Mat 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359" y="2385792"/>
            <a:ext cx="4818822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53D"/>
          </a:solidFill>
          <a:ln xmlns:a="http://schemas.openxmlformats.org/drawingml/2006/main" w="0">
            <a:solidFill>
              <a:srgbClr val="8B153D"/>
            </a:solidFill>
          </a:ln>
        </p:spPr>
      </p:sp>
      <p:sp>
        <p:nvSpPr>
          <p:cNvPr id="59" name="Visual Proof Primary Pan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072" y="2432160"/>
            <a:ext cx="1927529" cy="36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4445">
            <a:solidFill>
              <a:srgbClr val="D5E3EA"/>
            </a:solidFill>
          </a:ln>
        </p:spPr>
      </p:sp>
      <p:sp>
        <p:nvSpPr>
          <p:cNvPr id="60" name="Visual Proof Detail Panel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398" y="2452032"/>
            <a:ext cx="1820444" cy="1589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CDF">
              <a:alpha val="90000"/>
            </a:srgbClr>
          </a:solidFill>
          <a:ln xmlns:a="http://schemas.openxmlformats.org/drawingml/2006/main" w="4445">
            <a:solidFill>
              <a:srgbClr val="D5E3EA"/>
            </a:solidFill>
          </a:ln>
        </p:spPr>
      </p:sp>
      <p:sp>
        <p:nvSpPr>
          <p:cNvPr id="61" name="Visual Proof Detail Panel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110" y="2650752"/>
            <a:ext cx="1499189" cy="14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CDF">
              <a:alpha val="76000"/>
            </a:srgbClr>
          </a:solidFill>
          <a:ln xmlns:a="http://schemas.openxmlformats.org/drawingml/2006/main" w="4445">
            <a:solidFill>
              <a:srgbClr val="D5E3EA"/>
            </a:solidFill>
          </a:ln>
        </p:spPr>
      </p:sp>
      <p:sp>
        <p:nvSpPr>
          <p:cNvPr id="62" name="Visual Proof Caption Lin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784" y="2849472"/>
            <a:ext cx="2462954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CDF">
              <a:alpha val="82000"/>
            </a:srgbClr>
          </a:solidFill>
          <a:ln xmlns:a="http://schemas.openxmlformats.org/drawingml/2006/main" w="0">
            <a:solidFill>
              <a:srgbClr val="B2DCDF"/>
            </a:solidFill>
          </a:ln>
        </p:spPr>
      </p:sp>
      <p:sp>
        <p:nvSpPr>
          <p:cNvPr id="63" name="Visual Proof Caption Lin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784" y="2885904"/>
            <a:ext cx="2141699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CDF">
              <a:alpha val="64000"/>
            </a:srgbClr>
          </a:solidFill>
          <a:ln xmlns:a="http://schemas.openxmlformats.org/drawingml/2006/main" w="0">
            <a:solidFill>
              <a:srgbClr val="B2DCDF"/>
            </a:solidFill>
          </a:ln>
        </p:spPr>
      </p:sp>
      <p:sp>
        <p:nvSpPr>
          <p:cNvPr id="64" name="Visual Proof Caption Lin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784" y="2922336"/>
            <a:ext cx="1820444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CDF">
              <a:alpha val="46000"/>
            </a:srgbClr>
          </a:solidFill>
          <a:ln xmlns:a="http://schemas.openxmlformats.org/drawingml/2006/main" w="0">
            <a:solidFill>
              <a:srgbClr val="B2DCDF"/>
            </a:solidFill>
          </a:ln>
        </p:spPr>
      </p:sp>
      <p:sp>
        <p:nvSpPr>
          <p:cNvPr id="65" name="Composer Callout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847" y="3132000"/>
            <a:ext cx="5411847" cy="52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5715">
            <a:solidFill>
              <a:srgbClr val="D5E3EA"/>
            </a:solidFill>
          </a:ln>
          <a:effectLst xmlns:a="http://schemas.openxmlformats.org/drawingml/2006/main">
            <a:outerShdw blurRad="38100" dist="10160" dir="5400000" rotWithShape="0">
              <a:srgbClr val="000000">
                <a:alpha val="10000"/>
              </a:srgbClr>
            </a:outerShdw>
          </a:effectLst>
        </p:spPr>
      </p:sp>
      <p:sp>
        <p:nvSpPr>
          <p:cNvPr id="66" name="Composer Callout 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847" y="3132000"/>
            <a:ext cx="46800" cy="52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>
            <a:solidFill>
              <a:srgbClr val="008C95"/>
            </a:solidFill>
          </a:ln>
        </p:spPr>
      </p:sp>
      <p:sp>
        <p:nvSpPr>
          <p:cNvPr id="67" name="TextBox 20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437847" y="3232800"/>
            <a:ext cx="5105847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65717D"/>
                </a:solidFill>
                <a:latin typeface="Aptos"/>
              </a:rPr>
              <a:t>Energetic mood, Geometric visuals, Poppins headings. Change only the alternative index to render a different direction.</a:t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Client Theme Field Proof Variant 3 Energetic">
  <a:themeElements>
    <a:clrScheme name="Office">
      <a:dk1>
        <a:srgbClr val="30343B"/>
      </a:dk1>
      <a:lt1>
        <a:srgbClr val="FFFFFF"/>
      </a:lt1>
      <a:dk2>
        <a:srgbClr val="00656B"/>
      </a:dk2>
      <a:lt2>
        <a:srgbClr val="F6FAFC"/>
      </a:lt2>
      <a:accent1>
        <a:srgbClr val="008C95"/>
      </a:accent1>
      <a:accent2>
        <a:srgbClr val="8B153D"/>
      </a:accent2>
      <a:accent3>
        <a:srgbClr val="924912"/>
      </a:accent3>
      <a:accent4>
        <a:srgbClr val="F4A100"/>
      </a:accent4>
      <a:accent5>
        <a:srgbClr val="D5E3EA"/>
      </a:accent5>
      <a:accent6>
        <a:srgbClr val="8A949E"/>
      </a:accent6>
      <a:hlink>
        <a:srgbClr val="467886"/>
      </a:hlink>
      <a:folHlink>
        <a:srgbClr val="96607D"/>
      </a:folHlink>
    </a:clrScheme>
    <a:fontScheme name="Office">
      <a:majorFont>
        <a:latin typeface="Poppi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0</ap:Notes>
  <ap:Slides>4</ap:Slides>
  <ap:PresentationFormat>Widescreen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2026-09-07T11:39:33.0000000Z</dcterms:created>
  <dcterms:modified xsi:type="dcterms:W3CDTF">2026-09-07T11:39:33.7280740Z</dcterms:modified>
</coreProperties>
</file>