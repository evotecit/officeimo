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jpeg" ContentType="image/jpeg"/>
  <Default Extension="rels" ContentType="application/vnd.openxmlformats-package.relationships+xml"/>
  <Default Extension="xlsx" ContentType="application/vnd.openxmlformats-officedocument.spreadsheetml.sheet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charts/chart1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60e27588117d446a" /><Relationship Type="http://schemas.openxmlformats.org/officeDocument/2006/relationships/extended-properties" Target="/docProps/app.xml" Id="R7dc7cb228bf9492e" /><Relationship Type="http://schemas.openxmlformats.org/package/2006/relationships/metadata/core-properties" Target="/docProps/core.xml" Id="R96f6fb13ae2748b4" /><Relationship Type="http://schemas.openxmlformats.org/package/2006/relationships/metadata/thumbnail" Target="/docProps/thumbnail.jpeg" Id="R7e2cb04e7bfe42a5" /></Relationships>
</file>

<file path=ppt/presentation.xml><?xml version="1.0" encoding="utf-8"?>
<p:presentation xmlns:p="http://schemas.openxmlformats.org/presentationml/2006/main" saveSubsetFonts="1">
  <p:sldMasterIdLst>
    <p:sldMasterId xmlns:r="http://schemas.openxmlformats.org/officeDocument/2006/relationships" id="2147483648" r:id="rId1"/>
  </p:sldMasterIdLst>
  <p:notesMasterIdLst>
    <p:notesMasterId xmlns:r="http://schemas.openxmlformats.org/officeDocument/2006/relationships" r:id="Rede10e1fc1834492"/>
  </p:notesMasterIdLst>
  <p:sldIdLst>
    <p:sldId xmlns:r="http://schemas.openxmlformats.org/officeDocument/2006/relationships" id="256" r:id="rId2"/>
    <p:sldId xmlns:r="http://schemas.openxmlformats.org/officeDocument/2006/relationships" id="257" r:id="rId3"/>
    <p:sldId xmlns:r="http://schemas.openxmlformats.org/officeDocument/2006/relationships" id="258" r:id="rId4"/>
  </p:sldIdLst>
  <p:sldSz cx="12192000" cy="6858000" type="screen16x9"/>
  <p:notesSz cx="6858000" cy="9144000"/>
  <p:defaultTextStyle/>
</p:presentation>
</file>

<file path=ppt/presProps.xml><?xml version="1.0" encoding="utf-8"?>
<p:presentationPr xmlns:p="http://schemas.openxmlformats.org/presentationml/2006/main">
  <p:showPr showNarration="0" showAnimation="1" useTimings="1"/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xmlns:a="http://schemas.openxmlformats.org/drawingml/2006/main" n="142" d="100"/>
          <a:sy xmlns:a="http://schemas.openxmlformats.org/drawingml/2006/main" n="142" d="100"/>
        </p:scale>
        <p:origin x="0" y="0"/>
      </p:cViewPr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912ec896a3774002" /><Relationship Type="http://schemas.openxmlformats.org/officeDocument/2006/relationships/slide" Target="/ppt/slides/slide1.xml" Id="rId2" /><Relationship Type="http://schemas.openxmlformats.org/officeDocument/2006/relationships/presProps" Target="/ppt/presProps.xml" Id="R9363cc24008847b3" /><Relationship Type="http://schemas.openxmlformats.org/officeDocument/2006/relationships/viewProps" Target="/ppt/viewProps.xml" Id="Rcdd31ae037654955" /><Relationship Type="http://schemas.openxmlformats.org/officeDocument/2006/relationships/tableStyles" Target="/ppt/tableStyles.xml" Id="Redf96982b9524678" /><Relationship Type="http://schemas.openxmlformats.org/officeDocument/2006/relationships/notesMaster" Target="/ppt/notesMasters/notesMaster1.xml" Id="Rede10e1fc1834492" /><Relationship Type="http://schemas.openxmlformats.org/officeDocument/2006/relationships/slide" Target="/ppt/slides/slide2.xml" Id="rId3" /><Relationship Type="http://schemas.openxmlformats.org/officeDocument/2006/relationships/slide" Target="/ppt/slides/slide3.xml" Id="rId4" /></Relationships>
</file>

<file path=ppt/charts/_rels/chart11.xml.rels>&#65279;<?xml version="1.0" encoding="utf-8"?><Relationships xmlns="http://schemas.openxmlformats.org/package/2006/relationships"><Relationship Type="http://schemas.microsoft.com/office/2011/relationships/chartStyle" Target="/ppt/charts/style1.xml" Id="Rbf70c39d1a504e69" /><Relationship Type="http://schemas.microsoft.com/office/2011/relationships/chartColorStyle" Target="/ppt/charts/colors1.xml" Id="Ra0ff732a255a4c47" /><Relationship Type="http://schemas.openxmlformats.org/officeDocument/2006/relationships/package" Target="/ppt/embeddings/Microsoft_Excel_Worksheet1.xlsx" Id="R65bf6e5e85cd4d34" /></Relationships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/>
          <a:lstStyle/>
          <a:p>
            <a:r>
              <a:rPr lang="en-US" sz="1400" b="1">
                <a:solidFill>
                  <a:srgbClr val="172033"/>
                </a:solidFill>
                <a:latin typeface="Aptos"/>
              </a:rPr>
              <a:t>Quarterly Revenue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2563EB"/>
            </a:solidFill>
            <a:ln w="6350">
              <a:solidFill>
                <a:srgbClr val="2563EB"/>
              </a:solidFill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180</c:v>
                </c:pt>
                <c:pt idx="2">
                  <c:v>260</c:v>
                </c:pt>
                <c:pt idx="3">
                  <c:v>320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Costs</c:v>
                </c:pt>
              </c:strCache>
            </c:strRef>
          </c:tx>
          <c:spPr>
            <a:solidFill>
              <a:srgbClr val="F97316"/>
            </a:solidFill>
            <a:ln w="6350">
              <a:solidFill>
                <a:srgbClr val="F97316"/>
              </a:solidFill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94</c:v>
                </c:pt>
                <c:pt idx="2">
                  <c:v>132</c:v>
                </c:pt>
                <c:pt idx="3">
                  <c:v>150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>
                  <a:solidFill>
                    <a:srgbClr val="172033"/>
                  </a:solidFill>
                  <a:latin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8650113"/>
        <c:axId val="48650114"/>
      </c:barChart>
      <c:catAx>
        <c:axId val="48650113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 sz="1000" b="1">
                    <a:solidFill>
                      <a:srgbClr val="172033"/>
                    </a:solidFill>
                    <a:latin typeface="Aptos"/>
                  </a:rPr>
                  <a:t>Quarter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sz="900">
                <a:solidFill>
                  <a:srgbClr val="4B5563"/>
                </a:solidFill>
                <a:latin typeface="Aptos"/>
              </a:defRPr>
            </a:pPr>
          </a:p>
        </c:txPr>
        <c:crossAx val="48650114"/>
        <c:crosses val="autoZero"/>
        <c:auto val="1"/>
        <c:lblAlgn val="ctr"/>
        <c:lblOffset val="100"/>
        <c:noMultiLvlLbl val="0"/>
      </c:catAx>
      <c:valAx>
        <c:axId val="48650114"/>
        <c:scaling>
          <c:orientation val="minMax"/>
        </c:scaling>
        <c:delete val="0"/>
        <c:axPos val="l"/>
        <c:majorGridlines>
          <c:spPr>
            <a:ln w="6350">
              <a:solidFill>
                <a:srgbClr val="E5E7EB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1000" b="1">
                    <a:solidFill>
                      <a:srgbClr val="172033"/>
                    </a:solidFill>
                    <a:latin typeface="Aptos"/>
                  </a:rPr>
                  <a:t>Amount</a:t>
                </a:r>
              </a:p>
            </c:rich>
          </c:tx>
          <c:layout/>
          <c:overlay val="0"/>
        </c:title>
        <c:numFmt formatCode="#,##0" sourceLinked="0"/>
        <c:majorTickMark val="none"/>
        <c:minorTickMark val="none"/>
        <c:tickLblPos val="nextTo"/>
        <c:txPr>
          <a:bodyPr/>
          <a:lstStyle/>
          <a:p>
            <a:pPr>
              <a:defRPr sz="900">
                <a:solidFill>
                  <a:srgbClr val="4B5563"/>
                </a:solidFill>
                <a:latin typeface="Aptos"/>
              </a:defRPr>
            </a:pPr>
          </a:p>
        </c:txPr>
        <c:crossAx val="48650113"/>
        <c:crosses val="autoZero"/>
        <c:crossBetween val="between"/>
      </c:valAx>
      <c:spPr>
        <a:solidFill>
          <a:srgbClr val="FFFFFF"/>
        </a:solidFill>
        <a:ln w="6350">
          <a:solidFill>
            <a:srgbClr val="EEF2F7"/>
          </a:solidFill>
        </a:ln>
      </c:spPr>
    </c:plotArea>
    <c:legend>
      <c:legendPos val="r"/>
      <c:layout/>
      <c:overlay val="0"/>
      <c:txPr>
        <a:bodyPr/>
        <a:lstStyle/>
        <a:p>
          <a:pPr>
            <a:defRPr sz="900">
              <a:solidFill>
                <a:srgbClr val="4B5563"/>
              </a:solidFill>
              <a:latin typeface="Aptos"/>
            </a:defRPr>
          </a:pPr>
        </a:p>
      </c:txPr>
    </c:legend>
    <c:plotVisOnly val="1"/>
    <c:dispBlanksAs val="gap"/>
    <c:showDLblsOverMax val="0"/>
  </c:chart>
  <c:spPr>
    <a:solidFill>
      <a:srgbClr val="FFFFFF"/>
    </a:solidFill>
    <a:ln w="6350">
      <a:solidFill>
        <a:srgbClr val="D9E2EF"/>
      </a:solidFill>
    </a:ln>
  </c:spPr>
  <c:externalData r:id="R65bf6e5e85cd4d3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75f9af93db0f412d" /></Relationships>
</file>

<file path=ppt/notesMasters/notesMaster1.xml><?xml version="1.0" encoding="utf-8"?>
<p:notesMaster xmlns:p="http://schemas.openxmlformats.org/presentationml/2006/main">
  <p:cSld>
    <p:bg>
      <p:bgPr>
        <a:noFill xmlns:a="http://schemas.openxmlformats.org/drawingml/2006/main"/>
      </p:bgPr>
    </p:bg>
    <p:spTree>
      <p:nvGrpSpPr>
        <p:cNvPr id="1" name="Notes Group Shape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Notes Placeholder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lide Image Placeholder"/>
          <p:cNvSpPr/>
          <p:nvPr>
            <p:ph type="sldImg" idx="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Date Placeholder"/>
          <p:cNvSpPr/>
          <p:nvPr>
            <p:ph type="dt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5" name="Slide Number Placeholder"/>
          <p:cNvSpPr/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6" name="Footer Placeholder"/>
          <p:cNvSpPr/>
          <p:nvPr>
            <p:ph type="ftr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>
      <a:defRPr lang="en-US"/>
    </a:lvl1pPr>
    <a:lvl2pPr xmlns:a="http://schemas.openxmlformats.org/drawingml/2006/main">
      <a:defRPr lang="en-US"/>
    </a:lvl2pPr>
    <a:lvl3pPr xmlns:a="http://schemas.openxmlformats.org/drawingml/2006/main">
      <a:defRPr lang="en-US"/>
    </a:lvl3pPr>
    <a:lvl4pPr xmlns:a="http://schemas.openxmlformats.org/drawingml/2006/main">
      <a:defRPr lang="en-US"/>
    </a:lvl4pPr>
    <a:lvl5pPr xmlns:a="http://schemas.openxmlformats.org/drawingml/2006/main">
      <a:defRPr lang="en-US"/>
    </a:lvl5pPr>
    <a:lvl6pPr xmlns:a="http://schemas.openxmlformats.org/drawingml/2006/main">
      <a:defRPr lang="en-US"/>
    </a:lvl6pPr>
    <a:lvl7pPr xmlns:a="http://schemas.openxmlformats.org/drawingml/2006/main">
      <a:defRPr lang="en-US"/>
    </a:lvl7pPr>
    <a:lvl8pPr xmlns:a="http://schemas.openxmlformats.org/drawingml/2006/main">
      <a:defRPr lang="en-US"/>
    </a:lvl8pPr>
    <a:lvl9pPr xmlns:a="http://schemas.openxmlformats.org/drawingml/2006/main">
      <a:defRPr lang="en-US"/>
    </a:lvl9pPr>
  </p:notesStyle>
</p:notesMaster>
</file>

<file path=ppt/notesMasters/theme/theme2.xml><?xml version="1.0" encoding="utf-8"?>
<a:theme xmlns:thm15="http://schemas.microsoft.com/office/thememl/2012/main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438ca8a94e4d488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b867057df2654bcf" /></Relationships>
</file>

<file path=ppt/notesSlides/notesSlide1.xml><?xml version="1.0" encoding="utf-8"?>
<p:notes xmlns:p="http://schemas.openxmlformats.org/presentationml/2006/main">
  <p:cSld>
    <p:spTree>
      <p:nvGrpSpPr>
        <p:cNvPr id="1" name="Notes Group Shape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Open with the top-line result.</a:t>
            </a:r>
            <a:endParaRPr lang="en-US"/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Notes Group Shape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This chart exports as a native editable PowerPoint chart from inline CSV data.</a:t>
            </a:r>
            <a:endParaRPr lang="en-US"/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e65c3ee6964d8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78878a7bee4c5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2bbe7e4b5a479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f76c1a8d5c445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f82690b2b4405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61478985e8449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362b06bbea45a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c96fb04f0e495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b1a83ee6f4456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56407088f34dd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f88192896444a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 Placeholder 2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838200" y="217487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2174875"/>
            <a:ext cx="77724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Section Header Title 1"/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ection Header Text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217487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wo Content Title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2174875"/>
            <a:ext cx="3657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Placeholder 3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127500" y="2174875"/>
            <a:ext cx="3657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twoObj">
  <p:cSld name="Comparison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Comparison Title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365125"/>
            <a:ext cx="80486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Left 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899158"/>
            <a:ext cx="3889375" cy="35048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Right Text Placeholder 3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457200" y="899158"/>
            <a:ext cx="3889375" cy="35048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Picture Title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Picture Placeholder 3"/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838200" y="760000"/>
            <a:ext cx="7772400" cy="101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aption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912625"/>
            <a:ext cx="77724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9.xml><?xml version="1.0" encoding="utf-8"?>
<p:sldLayout xmlns:p="http://schemas.openxmlformats.org/presentationml/2006/main" type="vertTitleAndTx">
  <p:cSld name="Title and Vertical Tex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365125"/>
            <a:ext cx="18288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Vertical Text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743200" y="365125"/>
            <a:ext cx="54864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10.xml><?xml version="1.0" encoding="utf-8"?>
<p:sldLayout xmlns:p="http://schemas.openxmlformats.org/presentationml/2006/main" type="vertTx">
  <p:cSld name="Vertical Title and Tex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365125"/>
            <a:ext cx="27432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65125" y="365125"/>
            <a:ext cx="9144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11.xml><?xml version="1.0" encoding="utf-8"?>
<p:sldLayout xmlns:p="http://schemas.openxmlformats.org/presentationml/2006/main" type="twoObj">
  <p:cSld name="Two Content with Caption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2174875"/>
            <a:ext cx="3657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Placeholder 3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127500" y="2174875"/>
            <a:ext cx="3657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5" name="Caption Placeholder 4"/>
          <p:cNvSpPr>
            <a:spLocks xmlns:a="http://schemas.openxmlformats.org/drawingml/2006/main" noGrp="1"/>
          </p:cNvSpPr>
          <p:nvPr>
            <p:ph type="obj" idx="3"/>
          </p:nvPr>
        </p:nvSpPr>
        <p:spPr>
          <a:xfrm xmlns:a="http://schemas.openxmlformats.org/drawingml/2006/main">
            <a:off x="685800" y="6200000"/>
            <a:ext cx="7090000" cy="6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Relationship Type="http://schemas.openxmlformats.org/officeDocument/2006/relationships/slideLayout" Target="/ppt/slideLayouts/slideLayout6.xml" Id="rId6" /><Relationship Type="http://schemas.openxmlformats.org/officeDocument/2006/relationships/slideLayout" Target="/ppt/slideLayouts/slideLayout7.xml" Id="rId7" /><Relationship Type="http://schemas.openxmlformats.org/officeDocument/2006/relationships/slideLayout" Target="/ppt/slideLayouts/slideLayout8.xml" Id="rId8" /><Relationship Type="http://schemas.openxmlformats.org/officeDocument/2006/relationships/slideLayout" Target="/ppt/slideLayouts/slideLayout9.xml" Id="rId9" /><Relationship Type="http://schemas.openxmlformats.org/officeDocument/2006/relationships/slideLayout" Target="/ppt/slideLayouts/slideLayout10.xml" Id="rId10" /><Relationship Type="http://schemas.openxmlformats.org/officeDocument/2006/relationships/slideLayout" Target="/ppt/slideLayouts/slideLayout11.xml" Id="rId11" /><Relationship Type="http://schemas.openxmlformats.org/officeDocument/2006/relationships/theme" Target="/ppt/theme/theme1.xml" Id="rId12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  <p:sldLayoutId xmlns:r="http://schemas.openxmlformats.org/officeDocument/2006/relationships" id="2147483654" r:id="rId6"/>
    <p:sldLayoutId xmlns:r="http://schemas.openxmlformats.org/officeDocument/2006/relationships" id="2147483655" r:id="rId7"/>
    <p:sldLayoutId xmlns:r="http://schemas.openxmlformats.org/officeDocument/2006/relationships" id="2147483656" r:id="rId8"/>
    <p:sldLayoutId xmlns:r="http://schemas.openxmlformats.org/officeDocument/2006/relationships" id="2147483657" r:id="rId9"/>
    <p:sldLayoutId xmlns:r="http://schemas.openxmlformats.org/officeDocument/2006/relationships" id="2147483658" r:id="rId10"/>
    <p:sldLayoutId xmlns:r="http://schemas.openxmlformats.org/officeDocument/2006/relationships" id="2147483659" r:id="rId11"/>
  </p:sldLayoutIdLst>
  <p:txStyles>
    <p:titleStyle/>
    <p:bodyStyle/>
    <p:otherStyle/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notesSlide" Target="/ppt/notesSlides/notesSlide1.xml" Id="rI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chart" Target="/ppt/charts/chart11.xml" Id="R630b4de45f054efd" /><Relationship Type="http://schemas.openxmlformats.org/officeDocument/2006/relationships/notesSlide" Target="/ppt/notesSlides/notesSlide2.xml" Id="rId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FE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OfficeIMO Markup Canvas Wash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-109728"/>
            <a:ext cx="2697480" cy="5454396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D3E0FB">
              <a:alpha val="92000"/>
            </a:srgbClr>
          </a:solidFill>
          <a:ln xmlns:a="http://schemas.openxmlformats.org/drawingml/2006/main" w="0">
            <a:solidFill>
              <a:srgbClr val="D3E0FB"/>
            </a:solidFill>
          </a:ln>
        </p:spPr>
      </p:sp>
      <p:sp>
        <p:nvSpPr>
          <p:cNvPr id="3" name="OfficeIMO Markup Canvas Rail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00000"/>
            </a:srgbClr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4" name="OfficeIMO Markup Canvas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627632"/>
            <a:ext cx="109728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5" name="TextBox 1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658368" y="384048"/>
            <a:ext cx="2011680" cy="2560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3152" tIns="36576" rIns="73152" bIns="36576">
            <a:normAutofit fontScale="82000" lnSpcReduction="18000"/>
          </a:bodyPr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2563EB"/>
                </a:solidFill>
                <a:latin typeface="Lato"/>
              </a:rPr>
              <a:t>OfficeIMO Markup</a:t>
            </a:r>
          </a:p>
        </p:txBody>
      </p:sp>
      <p:sp>
        <p:nvSpPr>
          <p:cNvPr id="6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658368" y="658368"/>
            <a:ext cx="5212080" cy="7132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3152" tIns="36576" rIns="73152" bIns="36576">
            <a:normAutofit fontScale="82000" lnSpcReduction="18000"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30343B"/>
                </a:solidFill>
                <a:latin typeface="Poppins"/>
              </a:rPr>
              <a:t>Quarterly Review</a:t>
            </a:r>
          </a:p>
        </p:txBody>
      </p:sp>
      <p:sp>
        <p:nvSpPr>
          <p:cNvPr id="7" name="OfficeIMO Markup Summary Car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084832"/>
            <a:ext cx="2389632" cy="1481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F4F2"/>
            </a:solidFill>
          </a:ln>
        </p:spPr>
      </p:sp>
      <p:sp>
        <p:nvSpPr>
          <p:cNvPr id="8" name="OfficeIMO Markup Summary Card Acc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084832"/>
            <a:ext cx="2389632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9" name="TextBox 2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822960" y="2313432"/>
            <a:ext cx="475488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3152" tIns="36576" rIns="73152" bIns="36576">
            <a:normAutofit fontScale="82000" lnSpcReduction="18000"/>
          </a:bodyPr>
          <a:lstStyle xmlns:a="http://schemas.openxmlformats.org/drawingml/2006/main"/>
          <a:p xmlns:a="http://schemas.openxmlformats.org/drawingml/2006/main">
            <a:r>
              <a:rPr sz="1000" b="1">
                <a:solidFill>
                  <a:srgbClr val="2563EB"/>
                </a:solidFill>
                <a:latin typeface="Poppins"/>
              </a:rPr>
              <a:t>01</a:t>
            </a:r>
          </a:p>
        </p:txBody>
      </p:sp>
      <p:sp>
        <p:nvSpPr>
          <p:cNvPr id="10" name="TextBox 3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822960" y="2679192"/>
            <a:ext cx="2060448" cy="6217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3152" tIns="36576" rIns="73152" bIns="36576">
            <a:normAutofit fontScale="82000" lnSpcReduction="18000"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30343B"/>
                </a:solidFill>
                <a:latin typeface="Lato"/>
              </a:rPr>
              <a:t>Revenue grew 18%</a:t>
            </a:r>
          </a:p>
        </p:txBody>
      </p:sp>
      <p:sp>
        <p:nvSpPr>
          <p:cNvPr id="11" name="OfficeIMO Markup Summary Car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168" y="2084832"/>
            <a:ext cx="2389632" cy="1481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F4F2"/>
            </a:solidFill>
          </a:ln>
        </p:spPr>
      </p:sp>
      <p:sp>
        <p:nvSpPr>
          <p:cNvPr id="12" name="OfficeIMO Markup Summary Card Acc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168" y="2084832"/>
            <a:ext cx="2389632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13" name="TextBox 4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3413760" y="2313432"/>
            <a:ext cx="475488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3152" tIns="36576" rIns="73152" bIns="36576">
            <a:normAutofit fontScale="82000" lnSpcReduction="18000"/>
          </a:bodyPr>
          <a:lstStyle xmlns:a="http://schemas.openxmlformats.org/drawingml/2006/main"/>
          <a:p xmlns:a="http://schemas.openxmlformats.org/drawingml/2006/main">
            <a:r>
              <a:rPr sz="1000" b="1">
                <a:solidFill>
                  <a:srgbClr val="2563EB"/>
                </a:solidFill>
                <a:latin typeface="Poppins"/>
              </a:rPr>
              <a:t>02</a:t>
            </a:r>
          </a:p>
        </p:txBody>
      </p:sp>
      <p:sp>
        <p:nvSpPr>
          <p:cNvPr id="14" name="TextBox 5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3413760" y="2679192"/>
            <a:ext cx="2060448" cy="6217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3152" tIns="36576" rIns="73152" bIns="36576">
            <a:normAutofit fontScale="82000" lnSpcReduction="18000"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30343B"/>
                </a:solidFill>
                <a:latin typeface="Lato"/>
              </a:rPr>
              <a:t>Churn improved</a:t>
            </a:r>
          </a:p>
        </p:txBody>
      </p:sp>
      <p:sp>
        <p:nvSpPr>
          <p:cNvPr id="15" name="OfficeIMO Markup Summary Car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9968" y="2084832"/>
            <a:ext cx="2389632" cy="1481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F4F2"/>
            </a:solidFill>
          </a:ln>
        </p:spPr>
      </p:sp>
      <p:sp>
        <p:nvSpPr>
          <p:cNvPr id="16" name="OfficeIMO Markup Summary Card Acc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9968" y="2084832"/>
            <a:ext cx="2389632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7" name="TextBox 6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6004560" y="2313432"/>
            <a:ext cx="475488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3152" tIns="36576" rIns="73152" bIns="36576">
            <a:normAutofit fontScale="82000" lnSpcReduction="18000"/>
          </a:bodyPr>
          <a:lstStyle xmlns:a="http://schemas.openxmlformats.org/drawingml/2006/main"/>
          <a:p xmlns:a="http://schemas.openxmlformats.org/drawingml/2006/main">
            <a:r>
              <a:rPr sz="1000" b="1">
                <a:solidFill>
                  <a:srgbClr val="2563EB"/>
                </a:solidFill>
                <a:latin typeface="Poppins"/>
              </a:rPr>
              <a:t>03</a:t>
            </a:r>
          </a:p>
        </p:txBody>
      </p:sp>
      <p:sp>
        <p:nvSpPr>
          <p:cNvPr id="18" name="TextBox 7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6004560" y="2679192"/>
            <a:ext cx="2060448" cy="6217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3152" tIns="36576" rIns="73152" bIns="36576">
            <a:normAutofit fontScale="82000" lnSpcReduction="18000"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30343B"/>
                </a:solidFill>
                <a:latin typeface="Lato"/>
              </a:rPr>
              <a:t>Enterprise pipeline expanded</a:t>
            </a:r>
          </a:p>
        </p:txBody>
      </p:sp>
    </p:spTree>
  </p:cSld>
  <p:clrMapOvr>
    <a:masterClrMapping xmlns:a="http://schemas.openxmlformats.org/drawingml/2006/main"/>
  </p:clrMapOvr>
  <p:transition>
    <p:fade/>
  </p:transition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OfficeIMO Markup Canvas Wash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792" y="-109728"/>
            <a:ext cx="1792224" cy="5454396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D3E0FB">
              <a:alpha val="76000"/>
            </a:srgbClr>
          </a:solidFill>
          <a:ln xmlns:a="http://schemas.openxmlformats.org/drawingml/2006/main" w="0">
            <a:solidFill>
              <a:srgbClr val="D3E0FB"/>
            </a:solidFill>
          </a:ln>
        </p:spPr>
      </p:sp>
      <p:sp>
        <p:nvSpPr>
          <p:cNvPr id="3" name="OfficeIMO Markup Canvas Rail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408" y="0"/>
            <a:ext cx="73152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84000"/>
            </a:srgbClr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4" name="OfficeIMO Markup Canvas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896112"/>
            <a:ext cx="749808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5" name="TextBox 1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548640" y="411480"/>
            <a:ext cx="64008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3152" tIns="36576" rIns="73152" bIns="36576">
            <a:normAutofit fontScale="82000" lnSpcReduction="18000"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172033"/>
                </a:solidFill>
                <a:latin typeface="Aptos"/>
              </a:rPr>
              <a:t>Pipeline: From Text to PPTX</a:t>
            </a:r>
          </a:p>
        </p:txBody>
      </p:sp>
      <p:sp>
        <p:nvSpPr>
          <p:cNvPr id="6" name="TextBox 2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731520" y="1183005"/>
            <a:ext cx="7680960" cy="12344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3152" tIns="36576" rIns="73152" bIns="36576">
            <a:normAutofit fontScale="82000" lnSpcReduction="18000"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4B5563"/>
                </a:solidFill>
                <a:latin typeface="Aptos"/>
              </a:rPr>
              <a:t>Mermaid diagram
Install or configure the Mermaid renderer to export this block as an image.</a:t>
            </a:r>
          </a:p>
        </p:txBody>
      </p:sp>
      <p:sp>
        <p:nvSpPr>
          <p:cNvPr id="7" name="TextBox 3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548640" y="2880360"/>
            <a:ext cx="3840480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3152" tIns="36576" rIns="73152" bIns="36576">
            <a:normAutofit fontScale="82000" lnSpcReduction="18000"/>
          </a:bodyPr>
          <a:lstStyle xmlns:a="http://schemas.openxmlformats.org/drawingml/2006/main"/>
          <a:p xmlns:a="http://schemas.openxmlformats.org/drawingml/2006/main">
            <a:r>
              <a:rPr sz="2200" b="1">
                <a:solidFill>
                  <a:srgbClr val="172033"/>
                </a:solidFill>
                <a:latin typeface="Aptos"/>
              </a:rPr>
              <a:t>Notes</a:t>
            </a:r>
          </a:p>
        </p:txBody>
      </p:sp>
      <p:sp>
        <p:nvSpPr>
          <p:cNvPr id="8" name="TextBox 4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548640" y="3401568"/>
            <a:ext cx="3840480" cy="8161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3152" tIns="36576" rIns="73152" bIns="36576">
            <a:normAutofit fontScale="82000" lnSpcReduction="1800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spcAft>
                <a:spcPts val="200"/>
              </a:spcAft>
              <a:buChar char="•"/>
            </a:pPr>
            <a:r>
              <a:rPr sz="1400">
                <a:solidFill>
                  <a:srgbClr val="172033"/>
                </a:solidFill>
                <a:latin typeface="Aptos"/>
              </a:rPr>
              <a:t>Parser builds a semantic AST</a:t>
            </a:r>
          </a:p>
          <a:p xmlns:a="http://schemas.openxmlformats.org/drawingml/2006/main">
            <a:pPr>
              <a:lnSpc>
                <a:spcPct val="115000"/>
              </a:lnSpc>
              <a:spcAft>
                <a:spcPts val="200"/>
              </a:spcAft>
              <a:buChar char="•"/>
            </a:pPr>
            <a:r>
              <a:rPr sz="1400">
                <a:solidFill>
                  <a:srgbClr val="172033"/>
                </a:solidFill>
                <a:latin typeface="Aptos"/>
              </a:rPr>
              <a:t>Emitters generate C# and PowerShell</a:t>
            </a:r>
          </a:p>
          <a:p xmlns:a="http://schemas.openxmlformats.org/drawingml/2006/main">
            <a:pPr>
              <a:lnSpc>
                <a:spcPct val="115000"/>
              </a:lnSpc>
              <a:spcAft>
                <a:spcPts val="200"/>
              </a:spcAft>
              <a:buChar char="•"/>
            </a:pPr>
            <a:r>
              <a:rPr sz="1400">
                <a:solidFill>
                  <a:srgbClr val="172033"/>
                </a:solidFill>
                <a:latin typeface="Aptos"/>
              </a:rPr>
              <a:t>Renderers produce native Office files</a:t>
            </a:r>
          </a:p>
        </p:txBody>
      </p:sp>
      <p:sp>
        <p:nvSpPr>
          <p:cNvPr id="9" name="OfficeIMO Markup Card Panel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880360"/>
            <a:ext cx="384048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F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10" name="TextBox 5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4754880" y="2880360"/>
            <a:ext cx="384048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F"/>
          </a:solidFill>
          <a:ln xmlns:a="http://schemas.openxmlformats.org/drawingml/2006/main" w="9525">
            <a:solidFill>
              <a:srgbClr val="2563EB"/>
            </a:solidFill>
          </a:ln>
        </p:spPr>
        <p:txBody>
          <a:bodyPr xmlns:a="http://schemas.openxmlformats.org/drawingml/2006/main" lIns="73152" tIns="36576" rIns="73152" bIns="36576">
            <a:normAutofit fontScale="82000" lnSpcReduction="18000"/>
          </a:bodyPr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72033"/>
                </a:solidFill>
                <a:latin typeface="Aptos"/>
              </a:rPr>
              <a:t>Fast path
Start with Markdown, then add layout blocks only when the slide needs them.</a:t>
            </a:r>
          </a:p>
        </p:txBody>
      </p:sp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OfficeIMO Markup Canvas Wash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792" y="-109728"/>
            <a:ext cx="1792224" cy="5454396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D3E0FB">
              <a:alpha val="76000"/>
            </a:srgbClr>
          </a:solidFill>
          <a:ln xmlns:a="http://schemas.openxmlformats.org/drawingml/2006/main" w="0">
            <a:solidFill>
              <a:srgbClr val="D3E0FB"/>
            </a:solidFill>
          </a:ln>
        </p:spPr>
      </p:sp>
      <p:sp>
        <p:nvSpPr>
          <p:cNvPr id="3" name="OfficeIMO Markup Canvas Rail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408" y="0"/>
            <a:ext cx="73152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84000"/>
            </a:srgbClr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4" name="OfficeIMO Markup Canvas 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896112"/>
            <a:ext cx="749808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5" name="TextBox 1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548640" y="411480"/>
            <a:ext cx="64008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3152" tIns="36576" rIns="73152" bIns="36576">
            <a:normAutofit fontScale="82000" lnSpcReduction="18000"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172033"/>
                </a:solidFill>
                <a:latin typeface="Aptos"/>
              </a:rPr>
              <a:t>Quarterly Revenue</a:t>
            </a:r>
          </a:p>
        </p:txBody>
      </p:sp>
      <p:sp>
        <p:nvSpPr>
          <p:cNvPr id="6" name="OfficeIMO Markup Chart Panel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124712"/>
            <a:ext cx="7900416" cy="32026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2EF"/>
            </a:solidFill>
          </a:ln>
        </p:spPr>
      </p:sp>
      <p:graphicFrame>
        <p:nvGraphicFramePr>
          <p:cNvPr id="7" name="Chart 1"/>
          <p:cNvGraphicFramePr/>
          <p:nvPr/>
        </p:nvGraphicFramePr>
        <p:xfrm>
          <a:off xmlns:a="http://schemas.openxmlformats.org/drawingml/2006/main" x="731520" y="1234440"/>
          <a:ext xmlns:a="http://schemas.openxmlformats.org/drawingml/2006/main" cx="7680960" cy="298323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30b4de45f054efd"/>
          </a:graphicData>
        </a:graphic>
      </p:graphicFrame>
    </p:spTree>
  </p:cSld>
  <p:clrMapOvr>
    <a:masterClrMapping xmlns:a="http://schemas.openxmlformats.org/drawingml/2006/main"/>
  </p:clrMapOvr>
  <p:transition>
    <p:wipe/>
  </p:transition>
</p:sld>
</file>

<file path=ppt/theme/theme1.xml><?xml version="1.0" encoding="utf-8"?>
<a:theme xmlns:thm15="http://schemas.microsoft.com/office/thememl/2012/main" xmlns:a="http://schemas.openxmlformats.org/drawingml/2006/main" name="evotec-modern Variant 2 Corporate">
  <a:themeElements>
    <a:clrScheme name="Office">
      <a:dk1>
        <a:srgbClr val="30343B"/>
      </a:dk1>
      <a:lt1>
        <a:srgbClr val="FFFFFF"/>
      </a:lt1>
      <a:dk2>
        <a:srgbClr val="1B47A9"/>
      </a:dk2>
      <a:lt2>
        <a:srgbClr val="EFEDFD"/>
      </a:lt2>
      <a:accent1>
        <a:srgbClr val="2563EB"/>
      </a:accent1>
      <a:accent2>
        <a:srgbClr val="4933E7"/>
      </a:accent2>
      <a:accent3>
        <a:srgbClr val="4ED6D0"/>
      </a:accent3>
      <a:accent4>
        <a:srgbClr val="F59E0B"/>
      </a:accent4>
      <a:accent5>
        <a:srgbClr val="CDF4F2"/>
      </a:accent5>
      <a:accent6>
        <a:srgbClr val="8A949E"/>
      </a:accent6>
      <a:hlink>
        <a:srgbClr val="467886"/>
      </a:hlink>
      <a:folHlink>
        <a:srgbClr val="96607D"/>
      </a:folHlink>
    </a:clrScheme>
    <a:fontScheme name="Office">
      <a:majorFont>
        <a:latin typeface="Poppins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ato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ap:Properties xmlns:ap="http://schemas.openxmlformats.org/officeDocument/2006/extended-properties">
  <ap:TotalTime>0</ap:TotalTime>
  <ap:HiddenSlides>0</ap:HiddenSlides>
  <ap:Notes>2</ap:Notes>
  <ap:Slides>3</ap:Slides>
  <ap:PresentationFormat>Widescreen</ap:PresentationFormat>
  <ap:Application>Microsoft Office PowerPoint</ap:Application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OfficeIMO</dc:creator>
  <lastModifiedBy>OfficeIMO</lastModifiedBy>
  <dcterms:created xsi:type="dcterms:W3CDTF">2026-04-19T10:32:21.0000000Z</dcterms:created>
  <dcterms:modified xsi:type="dcterms:W3CDTF">2026-04-19T10:32:22.0944867Z</dcterms:modified>
</coreProperties>
</file>